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A66EDC3-1673-6A55-B9E8-E7C10759F331}">
          <p14:sldIdLst>
            <p14:sldId id="256"/>
          </p14:sldIdLst>
        </p14:section>
        <p14:section name="Design and workflow" id="{80947284-3307-72FB-1B19-5C9C2A24A3E7}">
          <p14:sldIdLst>
            <p14:sldId id="257"/>
            <p14:sldId id="258"/>
          </p14:sldIdLst>
        </p14:section>
        <p14:section name="Results" id="{686D05DF-A9C1-4ABB-D165-783E141977C5}">
          <p14:sldIdLst>
            <p14:sldId id="259"/>
            <p14:sldId id="260"/>
            <p14:sldId id="261"/>
            <p14:sldId id="262"/>
            <p14:sldId id="263"/>
          </p14:sldIdLst>
        </p14:section>
        <p14:section name="Conclusions" id="{F91C379D-44B2-8AD7-51B0-BAAA9AFA2F1E}">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BDB3CC-F4AF-4FDB-8ECF-1C80F7E4DF12}" v="6" dt="2026-10-30T09:32:31.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9429" autoAdjust="0"/>
  </p:normalViewPr>
  <p:slideViewPr>
    <p:cSldViewPr snapToGrid="0" snapToObjects="1">
      <p:cViewPr>
        <p:scale>
          <a:sx n="75" d="100"/>
          <a:sy n="75" d="100"/>
        </p:scale>
        <p:origin x="1116"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tra Roy" userId="23c0844c-8d0a-4a5e-bcfa-610fc60ca114" providerId="ADAL" clId="{29522DD7-C166-4E16-8EF4-8BF75ED7B3A7}"/>
    <pc:docChg chg="modSld">
      <pc:chgData name="Aritra Roy" userId="23c0844c-8d0a-4a5e-bcfa-610fc60ca114" providerId="ADAL" clId="{29522DD7-C166-4E16-8EF4-8BF75ED7B3A7}" dt="2026-10-30T09:35:07.381" v="141" actId="29295"/>
      <pc:docMkLst>
        <pc:docMk/>
      </pc:docMkLst>
      <pc:sldChg chg="modSp mod modNotesTx">
        <pc:chgData name="Aritra Roy" userId="23c0844c-8d0a-4a5e-bcfa-610fc60ca114" providerId="ADAL" clId="{29522DD7-C166-4E16-8EF4-8BF75ED7B3A7}" dt="2026-10-30T09:25:41.981" v="37" actId="20577"/>
        <pc:sldMkLst>
          <pc:docMk/>
          <pc:sldMk cId="0" sldId="256"/>
        </pc:sldMkLst>
        <pc:picChg chg="mod">
          <ac:chgData name="Aritra Roy" userId="23c0844c-8d0a-4a5e-bcfa-610fc60ca114" providerId="ADAL" clId="{29522DD7-C166-4E16-8EF4-8BF75ED7B3A7}" dt="2026-10-30T09:24:35.697" v="1" actId="1076"/>
          <ac:picMkLst>
            <pc:docMk/>
            <pc:sldMk cId="0" sldId="256"/>
            <ac:picMk id="4" creationId="{00000000-0000-0000-0000-000000000000}"/>
          </ac:picMkLst>
        </pc:picChg>
      </pc:sldChg>
      <pc:sldChg chg="modSp">
        <pc:chgData name="Aritra Roy" userId="23c0844c-8d0a-4a5e-bcfa-610fc60ca114" providerId="ADAL" clId="{29522DD7-C166-4E16-8EF4-8BF75ED7B3A7}" dt="2026-10-30T09:26:55.438" v="38"/>
        <pc:sldMkLst>
          <pc:docMk/>
          <pc:sldMk cId="0" sldId="257"/>
        </pc:sldMkLst>
        <pc:spChg chg="mod">
          <ac:chgData name="Aritra Roy" userId="23c0844c-8d0a-4a5e-bcfa-610fc60ca114" providerId="ADAL" clId="{29522DD7-C166-4E16-8EF4-8BF75ED7B3A7}" dt="2026-10-30T09:26:55.438" v="38"/>
          <ac:spMkLst>
            <pc:docMk/>
            <pc:sldMk cId="0" sldId="257"/>
            <ac:spMk id="13" creationId="{00000000-0000-0000-0000-000000000000}"/>
          </ac:spMkLst>
        </pc:spChg>
      </pc:sldChg>
      <pc:sldChg chg="modSp">
        <pc:chgData name="Aritra Roy" userId="23c0844c-8d0a-4a5e-bcfa-610fc60ca114" providerId="ADAL" clId="{29522DD7-C166-4E16-8EF4-8BF75ED7B3A7}" dt="2026-10-30T09:26:55.438" v="38"/>
        <pc:sldMkLst>
          <pc:docMk/>
          <pc:sldMk cId="0" sldId="258"/>
        </pc:sldMkLst>
        <pc:spChg chg="mod">
          <ac:chgData name="Aritra Roy" userId="23c0844c-8d0a-4a5e-bcfa-610fc60ca114" providerId="ADAL" clId="{29522DD7-C166-4E16-8EF4-8BF75ED7B3A7}" dt="2026-10-30T09:26:55.438" v="38"/>
          <ac:spMkLst>
            <pc:docMk/>
            <pc:sldMk cId="0" sldId="258"/>
            <ac:spMk id="31" creationId="{00000000-0000-0000-0000-000000000000}"/>
          </ac:spMkLst>
        </pc:spChg>
      </pc:sldChg>
      <pc:sldChg chg="modNotesTx">
        <pc:chgData name="Aritra Roy" userId="23c0844c-8d0a-4a5e-bcfa-610fc60ca114" providerId="ADAL" clId="{29522DD7-C166-4E16-8EF4-8BF75ED7B3A7}" dt="2026-10-30T09:27:53.304" v="98" actId="20577"/>
        <pc:sldMkLst>
          <pc:docMk/>
          <pc:sldMk cId="0" sldId="259"/>
        </pc:sldMkLst>
      </pc:sldChg>
      <pc:sldChg chg="addSp modSp mod">
        <pc:chgData name="Aritra Roy" userId="23c0844c-8d0a-4a5e-bcfa-610fc60ca114" providerId="ADAL" clId="{29522DD7-C166-4E16-8EF4-8BF75ED7B3A7}" dt="2026-10-30T09:35:07.381" v="141" actId="29295"/>
        <pc:sldMkLst>
          <pc:docMk/>
          <pc:sldMk cId="0" sldId="265"/>
        </pc:sldMkLst>
        <pc:picChg chg="add mod">
          <ac:chgData name="Aritra Roy" userId="23c0844c-8d0a-4a5e-bcfa-610fc60ca114" providerId="ADAL" clId="{29522DD7-C166-4E16-8EF4-8BF75ED7B3A7}" dt="2026-10-30T09:35:07.381" v="141" actId="29295"/>
          <ac:picMkLst>
            <pc:docMk/>
            <pc:sldMk cId="0" sldId="265"/>
            <ac:picMk id="7" creationId="{2A9CA4E7-F39D-D108-568A-75B791C52798}"/>
          </ac:picMkLst>
        </pc:picChg>
      </pc:sldChg>
      <pc:sldChg chg="addSp modSp mod">
        <pc:chgData name="Aritra Roy" userId="23c0844c-8d0a-4a5e-bcfa-610fc60ca114" providerId="ADAL" clId="{29522DD7-C166-4E16-8EF4-8BF75ED7B3A7}" dt="2026-10-30T09:34:36.021" v="137" actId="29295"/>
        <pc:sldMkLst>
          <pc:docMk/>
          <pc:sldMk cId="0" sldId="266"/>
        </pc:sldMkLst>
        <pc:spChg chg="mod">
          <ac:chgData name="Aritra Roy" userId="23c0844c-8d0a-4a5e-bcfa-610fc60ca114" providerId="ADAL" clId="{29522DD7-C166-4E16-8EF4-8BF75ED7B3A7}" dt="2026-10-30T09:31:17.921" v="116"/>
          <ac:spMkLst>
            <pc:docMk/>
            <pc:sldMk cId="0" sldId="266"/>
            <ac:spMk id="11" creationId="{00000000-0000-0000-0000-000000000000}"/>
          </ac:spMkLst>
        </pc:spChg>
        <pc:spChg chg="mod">
          <ac:chgData name="Aritra Roy" userId="23c0844c-8d0a-4a5e-bcfa-610fc60ca114" providerId="ADAL" clId="{29522DD7-C166-4E16-8EF4-8BF75ED7B3A7}" dt="2026-10-30T09:33:12.061" v="119" actId="20577"/>
          <ac:spMkLst>
            <pc:docMk/>
            <pc:sldMk cId="0" sldId="266"/>
            <ac:spMk id="15" creationId="{00000000-0000-0000-0000-000000000000}"/>
          </ac:spMkLst>
        </pc:spChg>
        <pc:picChg chg="mod">
          <ac:chgData name="Aritra Roy" userId="23c0844c-8d0a-4a5e-bcfa-610fc60ca114" providerId="ADAL" clId="{29522DD7-C166-4E16-8EF4-8BF75ED7B3A7}" dt="2026-10-30T09:29:41.829" v="101" actId="14826"/>
          <ac:picMkLst>
            <pc:docMk/>
            <pc:sldMk cId="0" sldId="266"/>
            <ac:picMk id="5" creationId="{00000000-0000-0000-0000-000000000000}"/>
          </ac:picMkLst>
        </pc:picChg>
        <pc:picChg chg="mod">
          <ac:chgData name="Aritra Roy" userId="23c0844c-8d0a-4a5e-bcfa-610fc60ca114" providerId="ADAL" clId="{29522DD7-C166-4E16-8EF4-8BF75ED7B3A7}" dt="2026-10-30T09:30:06.174" v="102" actId="14826"/>
          <ac:picMkLst>
            <pc:docMk/>
            <pc:sldMk cId="0" sldId="266"/>
            <ac:picMk id="9" creationId="{00000000-0000-0000-0000-000000000000}"/>
          </ac:picMkLst>
        </pc:picChg>
        <pc:picChg chg="mod">
          <ac:chgData name="Aritra Roy" userId="23c0844c-8d0a-4a5e-bcfa-610fc60ca114" providerId="ADAL" clId="{29522DD7-C166-4E16-8EF4-8BF75ED7B3A7}" dt="2026-10-30T09:32:25.823" v="117" actId="14826"/>
          <ac:picMkLst>
            <pc:docMk/>
            <pc:sldMk cId="0" sldId="266"/>
            <ac:picMk id="13" creationId="{00000000-0000-0000-0000-000000000000}"/>
          </ac:picMkLst>
        </pc:picChg>
        <pc:picChg chg="add mod ord">
          <ac:chgData name="Aritra Roy" userId="23c0844c-8d0a-4a5e-bcfa-610fc60ca114" providerId="ADAL" clId="{29522DD7-C166-4E16-8EF4-8BF75ED7B3A7}" dt="2026-10-30T09:34:36.021" v="137" actId="29295"/>
          <ac:picMkLst>
            <pc:docMk/>
            <pc:sldMk cId="0" sldId="266"/>
            <ac:picMk id="18" creationId="{772345FC-08B0-AF99-791E-FB81E6E813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927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Hi everyone, we're team MOFKeKing, and we used OT2 to mix cobalt, nickel and copper with a common linker BDC to see whether we could make a ternary solid.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picked 24 different metal mixes, each with at least two metals, and tried each one with four amounts of linker, so that's 96 reactions in total.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Our code planned everything, the robot did the pipetting, the oven did the heating and a plate reader measured every vial, and the mass spec and X-ray steps are still to come.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Here are all 96 spectra, and they never drop to zero because the solid in the vials scatters light, while the small bumps on top towards larger wavelengths are the real signals.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 pull out those small bumps, we took the second derivative, which flattens the smooth background and turns each bump into a clear peak.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Darker dots mean more solid, so you can see that anything with copper makes a lot of solid, and adding more linker makes even more.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is our main result: one band only shows up when nickel and copper are together, and another one only when cobalt and copper are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then checked if any three-metal mix showed something new, and every one of them could be explained by the two-metal mixes.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So against our own goals, we met two, partly met one, and the mass spec one is still waiting for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In short, copper is the key metal, two metal pairs give their own signal, and next we'll run mass spec and powder X-ray on our best samples to see what they really 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Thanks a lot for listening, and a big thanks to the HTEL team for running everything on site,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6766560" cy="21945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977640"/>
            <a:ext cx="6766560" cy="14630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3" name="Text 0"/>
          <p:cNvSpPr/>
          <p:nvPr/>
        </p:nvSpPr>
        <p:spPr>
          <a:xfrm>
            <a:off x="548640" y="6446520"/>
            <a:ext cx="6400800" cy="274320"/>
          </a:xfrm>
          <a:prstGeom prst="rect">
            <a:avLst/>
          </a:prstGeom>
          <a:noFill/>
          <a:ln/>
        </p:spPr>
        <p:txBody>
          <a:bodyPr wrap="square" rtlCol="0" anchor="ctr"/>
          <a:lstStyle/>
          <a:p>
            <a:pPr marL="0" indent="0">
              <a:buNone/>
            </a:pPr>
            <a:r>
              <a:rPr lang="en-US" sz="1000" dirty="0">
                <a:solidFill>
                  <a:schemeClr val="accent6"/>
                </a:solidFill>
              </a:rPr>
              <a:t>MOFKeKing  |  M3-MOF  |  SDL Hackathon 2026, UZH HTEL</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content">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00200"/>
            <a:ext cx="6766560" cy="2194560"/>
          </a:xfrm>
          <a:prstGeom prst="rect">
            <a:avLst/>
          </a:prstGeom>
          <a:noFill/>
          <a:ln/>
        </p:spPr>
        <p:txBody>
          <a:bodyPr wrap="square" rtlCol="0" anchor="b"/>
          <a:lstStyle/>
          <a:p>
            <a:pPr marL="0" indent="0" algn="l">
              <a:buNone/>
            </a:pPr>
            <a:r>
              <a:rPr lang="en-US" sz="4000" b="1" dirty="0">
                <a:solidFill>
                  <a:schemeClr val="bg1"/>
                </a:solidFill>
              </a:rPr>
              <a:t>Automated Exploration of</a:t>
            </a:r>
            <a:endParaRPr lang="en-US" sz="4000" dirty="0"/>
          </a:p>
          <a:p>
            <a:pPr marL="0" indent="0" algn="l">
              <a:buNone/>
            </a:pPr>
            <a:r>
              <a:rPr lang="en-US" sz="4000" b="1" dirty="0">
                <a:solidFill>
                  <a:schemeClr val="bg1"/>
                </a:solidFill>
              </a:rPr>
              <a:t>Co–Ni–Cu BDC</a:t>
            </a:r>
            <a:endParaRPr lang="en-US" sz="4000" dirty="0"/>
          </a:p>
          <a:p>
            <a:pPr marL="0" indent="0" algn="l">
              <a:buNone/>
            </a:pPr>
            <a:r>
              <a:rPr lang="en-US" sz="4000" b="1" dirty="0">
                <a:solidFill>
                  <a:schemeClr val="bg1"/>
                </a:solidFill>
              </a:rPr>
              <a:t>Coordination Polymers</a:t>
            </a:r>
            <a:endParaRPr lang="en-US" sz="4000" dirty="0"/>
          </a:p>
        </p:txBody>
      </p:sp>
      <p:sp>
        <p:nvSpPr>
          <p:cNvPr id="3" name="Text 0"/>
          <p:cNvSpPr>
            <a:spLocks noGrp="1"/>
          </p:cNvSpPr>
          <p:nvPr>
            <p:ph type="body" idx="101" hasCustomPrompt="1"/>
          </p:nvPr>
        </p:nvSpPr>
        <p:spPr>
          <a:xfrm>
            <a:off x="731520" y="3977640"/>
            <a:ext cx="6766560" cy="1463040"/>
          </a:xfrm>
          <a:prstGeom prst="rect">
            <a:avLst/>
          </a:prstGeom>
          <a:noFill/>
          <a:ln/>
        </p:spPr>
        <p:txBody>
          <a:bodyPr wrap="square" rtlCol="0" anchor="t"/>
          <a:lstStyle/>
          <a:p>
            <a:pPr marL="0" indent="0">
              <a:buNone/>
            </a:pPr>
            <a:r>
              <a:rPr lang="en-US" sz="1800" b="1" dirty="0">
                <a:solidFill>
                  <a:srgbClr val="B8693A"/>
                </a:solidFill>
              </a:rPr>
              <a:t>Team MOFKeKing  |  Project M3-MOF</a:t>
            </a:r>
            <a:endParaRPr lang="en-US" sz="1800" dirty="0"/>
          </a:p>
          <a:p>
            <a:pPr marL="0" indent="0">
              <a:buNone/>
            </a:pPr>
            <a:r>
              <a:rPr lang="en-US" sz="1800" dirty="0">
                <a:solidFill>
                  <a:schemeClr val="bg2"/>
                </a:solidFill>
              </a:rPr>
              <a:t>Aritra Roy, Piyush Ranjan Maharana, Tarak Nath Das</a:t>
            </a:r>
            <a:endParaRPr lang="en-US" sz="1800" dirty="0"/>
          </a:p>
          <a:p>
            <a:pPr marL="0" indent="0">
              <a:buNone/>
            </a:pPr>
            <a:r>
              <a:rPr lang="en-US" sz="1800" dirty="0">
                <a:solidFill>
                  <a:schemeClr val="bg2"/>
                </a:solidFill>
              </a:rPr>
              <a:t>SDL Hackathon, UZH HTEL  |  30 October 2026</a:t>
            </a:r>
            <a:endParaRPr lang="en-US" sz="1800" dirty="0"/>
          </a:p>
        </p:txBody>
      </p:sp>
      <p:pic>
        <p:nvPicPr>
          <p:cNvPr id="4" name="title-art" descr="Illustration of a metal-organic framework: Co, Ni and Cu nodes linked by benzenedicarboxylate rings"/>
          <p:cNvPicPr>
            <a:picLocks noChangeAspect="1"/>
          </p:cNvPicPr>
          <p:nvPr/>
        </p:nvPicPr>
        <p:blipFill>
          <a:blip r:embed="rId3"/>
          <a:stretch>
            <a:fillRect/>
          </a:stretch>
        </p:blipFill>
        <p:spPr>
          <a:xfrm>
            <a:off x="6967662" y="422413"/>
            <a:ext cx="5010978" cy="6013174"/>
          </a:xfrm>
          <a:prstGeom prst="rect">
            <a:avLst/>
          </a:prstGeom>
        </p:spPr>
      </p:pic>
      <p:sp>
        <p:nvSpPr>
          <p:cNvPr id="5" name="metal-Co"/>
          <p:cNvSpPr/>
          <p:nvPr/>
        </p:nvSpPr>
        <p:spPr>
          <a:xfrm>
            <a:off x="731520" y="914400"/>
            <a:ext cx="685800" cy="685800"/>
          </a:xfrm>
          <a:prstGeom prst="ellipse">
            <a:avLst/>
          </a:prstGeom>
          <a:solidFill>
            <a:srgbClr val="2A78D6"/>
          </a:solidFill>
          <a:ln w="12700">
            <a:solidFill>
              <a:srgbClr val="2A78D6"/>
            </a:solidFill>
            <a:prstDash val="solid"/>
          </a:ln>
        </p:spPr>
        <p:txBody>
          <a:bodyPr/>
          <a:lstStyle/>
          <a:p>
            <a:endParaRPr lang="en-IN"/>
          </a:p>
        </p:txBody>
      </p:sp>
      <p:sp>
        <p:nvSpPr>
          <p:cNvPr id="6" name="Text 3"/>
          <p:cNvSpPr txBox="1"/>
          <p:nvPr/>
        </p:nvSpPr>
        <p:spPr>
          <a:xfrm>
            <a:off x="731520" y="9144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rPr>
              <a:t>Co</a:t>
            </a:r>
            <a:endParaRPr lang="en-US" sz="1800" dirty="0"/>
          </a:p>
        </p:txBody>
      </p:sp>
      <p:sp>
        <p:nvSpPr>
          <p:cNvPr id="7" name="metal-Ni"/>
          <p:cNvSpPr/>
          <p:nvPr/>
        </p:nvSpPr>
        <p:spPr>
          <a:xfrm>
            <a:off x="1600200" y="914400"/>
            <a:ext cx="685800" cy="685800"/>
          </a:xfrm>
          <a:prstGeom prst="ellipse">
            <a:avLst/>
          </a:prstGeom>
          <a:solidFill>
            <a:srgbClr val="1BAF7A"/>
          </a:solidFill>
          <a:ln w="12700">
            <a:solidFill>
              <a:srgbClr val="1BAF7A"/>
            </a:solidFill>
            <a:prstDash val="solid"/>
          </a:ln>
        </p:spPr>
        <p:txBody>
          <a:bodyPr/>
          <a:lstStyle/>
          <a:p>
            <a:endParaRPr lang="en-IN"/>
          </a:p>
        </p:txBody>
      </p:sp>
      <p:sp>
        <p:nvSpPr>
          <p:cNvPr id="8" name="Text 5"/>
          <p:cNvSpPr txBox="1"/>
          <p:nvPr/>
        </p:nvSpPr>
        <p:spPr>
          <a:xfrm>
            <a:off x="1600200" y="9144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rPr>
              <a:t>Ni</a:t>
            </a:r>
            <a:endParaRPr lang="en-US" sz="1800" dirty="0"/>
          </a:p>
        </p:txBody>
      </p:sp>
      <p:sp>
        <p:nvSpPr>
          <p:cNvPr id="9" name="metal-Cu"/>
          <p:cNvSpPr/>
          <p:nvPr/>
        </p:nvSpPr>
        <p:spPr>
          <a:xfrm>
            <a:off x="2468880" y="914400"/>
            <a:ext cx="685800" cy="685800"/>
          </a:xfrm>
          <a:prstGeom prst="ellipse">
            <a:avLst/>
          </a:prstGeom>
          <a:solidFill>
            <a:srgbClr val="B8693A"/>
          </a:solidFill>
          <a:ln w="12700">
            <a:solidFill>
              <a:srgbClr val="B8693A"/>
            </a:solidFill>
            <a:prstDash val="solid"/>
          </a:ln>
        </p:spPr>
        <p:txBody>
          <a:bodyPr/>
          <a:lstStyle/>
          <a:p>
            <a:endParaRPr lang="en-IN"/>
          </a:p>
        </p:txBody>
      </p:sp>
      <p:sp>
        <p:nvSpPr>
          <p:cNvPr id="10" name="Text 7"/>
          <p:cNvSpPr txBox="1"/>
          <p:nvPr/>
        </p:nvSpPr>
        <p:spPr>
          <a:xfrm>
            <a:off x="2468880" y="9144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rPr>
              <a:t>Cu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Can a UV–Vis screen spot mixed-metal Co–Ni–Cu species?</a:t>
            </a:r>
            <a:endParaRPr lang="en-US" sz="3000" dirty="0"/>
          </a:p>
        </p:txBody>
      </p:sp>
      <p:sp>
        <p:nvSpPr>
          <p:cNvPr id="3" name="Text 1"/>
          <p:cNvSpPr txBox="1"/>
          <p:nvPr/>
        </p:nvSpPr>
        <p:spPr>
          <a:xfrm>
            <a:off x="548640" y="1325880"/>
            <a:ext cx="5669280" cy="1280160"/>
          </a:xfrm>
          <a:prstGeom prst="rect">
            <a:avLst/>
          </a:prstGeom>
          <a:noFill/>
          <a:ln/>
        </p:spPr>
        <p:txBody>
          <a:bodyPr wrap="square" rtlCol="0" anchor="t"/>
          <a:lstStyle/>
          <a:p>
            <a:pPr marL="0" indent="0">
              <a:spcAft>
                <a:spcPts val="400"/>
              </a:spcAft>
              <a:buNone/>
            </a:pPr>
            <a:r>
              <a:rPr lang="en-US" sz="1600" b="1" dirty="0">
                <a:solidFill>
                  <a:srgbClr val="16324F"/>
                </a:solidFill>
              </a:rPr>
              <a:t>Hypothesis</a:t>
            </a:r>
            <a:endParaRPr lang="en-US" sz="1600" dirty="0"/>
          </a:p>
          <a:p>
            <a:pPr marL="0" indent="0">
              <a:spcAft>
                <a:spcPts val="400"/>
              </a:spcAft>
              <a:buNone/>
            </a:pPr>
            <a:r>
              <a:rPr lang="en-US" sz="1600" dirty="0">
                <a:solidFill>
                  <a:srgbClr val="1B1F24"/>
                </a:solidFill>
              </a:rPr>
              <a:t>At least one composition shows a UV–Vis band that no simpler composition shows: a sign of a mixed-metal cluster worth sending to HPLC–MS and PXRD.</a:t>
            </a:r>
            <a:endParaRPr lang="en-US" sz="1600" dirty="0"/>
          </a:p>
        </p:txBody>
      </p:sp>
      <p:sp>
        <p:nvSpPr>
          <p:cNvPr id="4" name="stat-0"/>
          <p:cNvSpPr/>
          <p:nvPr/>
        </p:nvSpPr>
        <p:spPr>
          <a:xfrm>
            <a:off x="548640" y="2880360"/>
            <a:ext cx="1783080" cy="2011680"/>
          </a:xfrm>
          <a:prstGeom prst="roundRect">
            <a:avLst>
              <a:gd name="adj" fmla="val 5128"/>
            </a:avLst>
          </a:prstGeom>
          <a:solidFill>
            <a:schemeClr val="bg2"/>
          </a:solidFill>
          <a:ln w="12700">
            <a:solidFill>
              <a:schemeClr val="bg2"/>
            </a:solidFill>
            <a:prstDash val="solid"/>
          </a:ln>
        </p:spPr>
        <p:txBody>
          <a:bodyPr/>
          <a:lstStyle/>
          <a:p>
            <a:endParaRPr lang="en-IN"/>
          </a:p>
        </p:txBody>
      </p:sp>
      <p:sp>
        <p:nvSpPr>
          <p:cNvPr id="5" name="Text 3"/>
          <p:cNvSpPr txBox="1"/>
          <p:nvPr/>
        </p:nvSpPr>
        <p:spPr>
          <a:xfrm>
            <a:off x="548640" y="3017520"/>
            <a:ext cx="1783080" cy="8686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24</a:t>
            </a:r>
            <a:endParaRPr lang="en-US" sz="4000" dirty="0"/>
          </a:p>
        </p:txBody>
      </p:sp>
      <p:sp>
        <p:nvSpPr>
          <p:cNvPr id="6" name="Text 4"/>
          <p:cNvSpPr txBox="1"/>
          <p:nvPr/>
        </p:nvSpPr>
        <p:spPr>
          <a:xfrm>
            <a:off x="640080" y="3931920"/>
            <a:ext cx="1600200" cy="868680"/>
          </a:xfrm>
          <a:prstGeom prst="rect">
            <a:avLst/>
          </a:prstGeom>
          <a:noFill/>
          <a:ln/>
        </p:spPr>
        <p:txBody>
          <a:bodyPr wrap="square" lIns="0" tIns="0" rIns="0" bIns="0" rtlCol="0" anchor="t"/>
          <a:lstStyle/>
          <a:p>
            <a:pPr marL="0" indent="0" algn="ctr">
              <a:buNone/>
            </a:pPr>
            <a:r>
              <a:rPr lang="en-US" sz="1200" dirty="0">
                <a:solidFill>
                  <a:srgbClr val="5F6670"/>
                </a:solidFill>
              </a:rPr>
              <a:t>Co:Ni:Cu compositions,</a:t>
            </a:r>
            <a:endParaRPr lang="en-US" sz="1200" dirty="0"/>
          </a:p>
          <a:p>
            <a:pPr marL="0" indent="0" algn="ctr">
              <a:buNone/>
            </a:pPr>
            <a:r>
              <a:rPr lang="en-US" sz="1200" dirty="0">
                <a:solidFill>
                  <a:srgbClr val="5F6670"/>
                </a:solidFill>
              </a:rPr>
              <a:t>every one with ≥ 2 metals</a:t>
            </a:r>
            <a:endParaRPr lang="en-US" sz="1200" dirty="0"/>
          </a:p>
        </p:txBody>
      </p:sp>
      <p:sp>
        <p:nvSpPr>
          <p:cNvPr id="7" name="stat-1"/>
          <p:cNvSpPr/>
          <p:nvPr/>
        </p:nvSpPr>
        <p:spPr>
          <a:xfrm>
            <a:off x="2468880" y="2880360"/>
            <a:ext cx="1783080" cy="2011680"/>
          </a:xfrm>
          <a:prstGeom prst="roundRect">
            <a:avLst>
              <a:gd name="adj" fmla="val 5128"/>
            </a:avLst>
          </a:prstGeom>
          <a:solidFill>
            <a:schemeClr val="bg2"/>
          </a:solidFill>
          <a:ln w="12700">
            <a:solidFill>
              <a:schemeClr val="bg2"/>
            </a:solidFill>
            <a:prstDash val="solid"/>
          </a:ln>
        </p:spPr>
        <p:txBody>
          <a:bodyPr/>
          <a:lstStyle/>
          <a:p>
            <a:endParaRPr lang="en-IN"/>
          </a:p>
        </p:txBody>
      </p:sp>
      <p:sp>
        <p:nvSpPr>
          <p:cNvPr id="8" name="Text 6"/>
          <p:cNvSpPr txBox="1"/>
          <p:nvPr/>
        </p:nvSpPr>
        <p:spPr>
          <a:xfrm>
            <a:off x="2468880" y="3017520"/>
            <a:ext cx="1783080" cy="8686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 4</a:t>
            </a:r>
            <a:endParaRPr lang="en-US" sz="4000" dirty="0"/>
          </a:p>
        </p:txBody>
      </p:sp>
      <p:sp>
        <p:nvSpPr>
          <p:cNvPr id="9" name="Text 7"/>
          <p:cNvSpPr txBox="1"/>
          <p:nvPr/>
        </p:nvSpPr>
        <p:spPr>
          <a:xfrm>
            <a:off x="2560320" y="3931920"/>
            <a:ext cx="1600200" cy="868680"/>
          </a:xfrm>
          <a:prstGeom prst="rect">
            <a:avLst/>
          </a:prstGeom>
          <a:noFill/>
          <a:ln/>
        </p:spPr>
        <p:txBody>
          <a:bodyPr wrap="square" lIns="0" tIns="0" rIns="0" bIns="0" rtlCol="0" anchor="t"/>
          <a:lstStyle/>
          <a:p>
            <a:pPr marL="0" indent="0" algn="ctr">
              <a:buNone/>
            </a:pPr>
            <a:r>
              <a:rPr lang="en-US" sz="1200" dirty="0">
                <a:solidFill>
                  <a:srgbClr val="5F6670"/>
                </a:solidFill>
              </a:rPr>
              <a:t>metal : ligand ratios</a:t>
            </a:r>
            <a:endParaRPr lang="en-US" sz="1200" dirty="0"/>
          </a:p>
          <a:p>
            <a:pPr marL="0" indent="0" algn="ctr">
              <a:buNone/>
            </a:pPr>
            <a:r>
              <a:rPr lang="en-US" sz="1200" dirty="0">
                <a:solidFill>
                  <a:srgbClr val="5F6670"/>
                </a:solidFill>
              </a:rPr>
              <a:t>(1:1, 1:2, 1:3, 1:4)</a:t>
            </a:r>
            <a:endParaRPr lang="en-US" sz="1200" dirty="0"/>
          </a:p>
        </p:txBody>
      </p:sp>
      <p:sp>
        <p:nvSpPr>
          <p:cNvPr id="10" name="stat-2"/>
          <p:cNvSpPr/>
          <p:nvPr/>
        </p:nvSpPr>
        <p:spPr>
          <a:xfrm>
            <a:off x="4389120" y="2880360"/>
            <a:ext cx="1783080" cy="2011680"/>
          </a:xfrm>
          <a:prstGeom prst="roundRect">
            <a:avLst>
              <a:gd name="adj" fmla="val 5128"/>
            </a:avLst>
          </a:prstGeom>
          <a:solidFill>
            <a:schemeClr val="bg2"/>
          </a:solidFill>
          <a:ln w="12700">
            <a:solidFill>
              <a:schemeClr val="bg2"/>
            </a:solidFill>
            <a:prstDash val="solid"/>
          </a:ln>
        </p:spPr>
        <p:txBody>
          <a:bodyPr/>
          <a:lstStyle/>
          <a:p>
            <a:endParaRPr lang="en-IN"/>
          </a:p>
        </p:txBody>
      </p:sp>
      <p:sp>
        <p:nvSpPr>
          <p:cNvPr id="11" name="Text 9"/>
          <p:cNvSpPr txBox="1"/>
          <p:nvPr/>
        </p:nvSpPr>
        <p:spPr>
          <a:xfrm>
            <a:off x="4389120" y="3017520"/>
            <a:ext cx="1783080" cy="868680"/>
          </a:xfrm>
          <a:prstGeom prst="rect">
            <a:avLst/>
          </a:prstGeom>
          <a:noFill/>
          <a:ln/>
        </p:spPr>
        <p:txBody>
          <a:bodyPr wrap="square" lIns="0" tIns="0" rIns="0" bIns="0" rtlCol="0" anchor="ctr"/>
          <a:lstStyle/>
          <a:p>
            <a:pPr marL="0" indent="0" algn="ctr">
              <a:buNone/>
            </a:pPr>
            <a:r>
              <a:rPr lang="en-US" sz="4000" b="1" dirty="0">
                <a:solidFill>
                  <a:schemeClr val="accent1"/>
                </a:solidFill>
                <a:latin typeface="Cambria" pitchFamily="34" charset="0"/>
                <a:ea typeface="Cambria" pitchFamily="34" charset="-122"/>
                <a:cs typeface="Cambria" pitchFamily="34" charset="-120"/>
              </a:rPr>
              <a:t>96</a:t>
            </a:r>
            <a:endParaRPr lang="en-US" sz="4000" dirty="0"/>
          </a:p>
        </p:txBody>
      </p:sp>
      <p:sp>
        <p:nvSpPr>
          <p:cNvPr id="12" name="Text 10"/>
          <p:cNvSpPr txBox="1"/>
          <p:nvPr/>
        </p:nvSpPr>
        <p:spPr>
          <a:xfrm>
            <a:off x="4480560" y="3931920"/>
            <a:ext cx="1600200" cy="868680"/>
          </a:xfrm>
          <a:prstGeom prst="rect">
            <a:avLst/>
          </a:prstGeom>
          <a:noFill/>
          <a:ln/>
        </p:spPr>
        <p:txBody>
          <a:bodyPr wrap="square" lIns="0" tIns="0" rIns="0" bIns="0" rtlCol="0" anchor="t"/>
          <a:lstStyle/>
          <a:p>
            <a:pPr marL="0" indent="0" algn="ctr">
              <a:buNone/>
            </a:pPr>
            <a:r>
              <a:rPr lang="en-US" sz="1200" dirty="0">
                <a:solidFill>
                  <a:srgbClr val="5F6670"/>
                </a:solidFill>
              </a:rPr>
              <a:t>reactions, 300 µL DMF,</a:t>
            </a:r>
            <a:endParaRPr lang="en-US" sz="1200" dirty="0"/>
          </a:p>
          <a:p>
            <a:pPr marL="0" indent="0" algn="ctr">
              <a:buNone/>
            </a:pPr>
            <a:r>
              <a:rPr lang="en-US" sz="1200" dirty="0">
                <a:solidFill>
                  <a:srgbClr val="5F6670"/>
                </a:solidFill>
              </a:rPr>
              <a:t>18 mM total metal</a:t>
            </a:r>
            <a:endParaRPr lang="en-US" sz="1200" dirty="0"/>
          </a:p>
        </p:txBody>
      </p:sp>
      <p:sp>
        <p:nvSpPr>
          <p:cNvPr id="13" name="Text 11"/>
          <p:cNvSpPr txBox="1"/>
          <p:nvPr/>
        </p:nvSpPr>
        <p:spPr>
          <a:xfrm>
            <a:off x="548640" y="5120640"/>
            <a:ext cx="5669280" cy="731520"/>
          </a:xfrm>
          <a:prstGeom prst="rect">
            <a:avLst/>
          </a:prstGeom>
          <a:noFill/>
          <a:ln/>
        </p:spPr>
        <p:txBody>
          <a:bodyPr wrap="square" rtlCol="0" anchor="ctr"/>
          <a:lstStyle/>
          <a:p>
            <a:pPr marL="0" indent="0">
              <a:buNone/>
            </a:pPr>
            <a:r>
              <a:rPr lang="en-US" sz="1400" dirty="0">
                <a:solidFill>
                  <a:srgbClr val="5F6670"/>
                </a:solidFill>
              </a:rPr>
              <a:t>Reaction: 13 h at 120 °C. Screening: UV–Vis on every vial, then HPLC–MS and PXRD on the leads.</a:t>
            </a:r>
            <a:endParaRPr lang="en-US" sz="1400" dirty="0"/>
          </a:p>
        </p:txBody>
      </p:sp>
      <p:pic>
        <p:nvPicPr>
          <p:cNvPr id="14" name="fig-design" descr="Composition triangle showing the 21 distinct Co:Ni:Cu compositions: 9 binary on the edges, 12 ternary inside, with 1:1:1 in triplicate"/>
          <p:cNvPicPr>
            <a:picLocks noChangeAspect="1"/>
          </p:cNvPicPr>
          <p:nvPr/>
        </p:nvPicPr>
        <p:blipFill>
          <a:blip r:embed="rId3"/>
          <a:stretch>
            <a:fillRect/>
          </a:stretch>
        </p:blipFill>
        <p:spPr>
          <a:xfrm>
            <a:off x="6583680" y="1234440"/>
            <a:ext cx="5029200" cy="4317045"/>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From Python design to 96 spectra in one robot day</a:t>
            </a:r>
            <a:endParaRPr lang="en-US" sz="3000" dirty="0"/>
          </a:p>
        </p:txBody>
      </p:sp>
      <p:sp>
        <p:nvSpPr>
          <p:cNvPr id="3" name="step-0"/>
          <p:cNvSpPr/>
          <p:nvPr/>
        </p:nvSpPr>
        <p:spPr>
          <a:xfrm>
            <a:off x="548640"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4" name="Shape 2"/>
          <p:cNvSpPr/>
          <p:nvPr/>
        </p:nvSpPr>
        <p:spPr>
          <a:xfrm>
            <a:off x="1060704" y="1554480"/>
            <a:ext cx="731520" cy="731520"/>
          </a:xfrm>
          <a:prstGeom prst="ellipse">
            <a:avLst/>
          </a:prstGeom>
          <a:solidFill>
            <a:schemeClr val="tx2"/>
          </a:solidFill>
          <a:ln w="12700">
            <a:solidFill>
              <a:schemeClr val="tx2"/>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1234440" y="1728216"/>
            <a:ext cx="384048" cy="384048"/>
          </a:xfrm>
          <a:prstGeom prst="rect">
            <a:avLst/>
          </a:prstGeom>
        </p:spPr>
      </p:pic>
      <p:sp>
        <p:nvSpPr>
          <p:cNvPr id="6" name="Text 3"/>
          <p:cNvSpPr txBox="1"/>
          <p:nvPr/>
        </p:nvSpPr>
        <p:spPr>
          <a:xfrm>
            <a:off x="640080"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1. Design</a:t>
            </a:r>
            <a:endParaRPr lang="en-US" sz="1500" dirty="0"/>
          </a:p>
        </p:txBody>
      </p:sp>
      <p:sp>
        <p:nvSpPr>
          <p:cNvPr id="7" name="Text 4"/>
          <p:cNvSpPr txBox="1"/>
          <p:nvPr/>
        </p:nvSpPr>
        <p:spPr>
          <a:xfrm>
            <a:off x="658368"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Python: compositions, per-vial volumes, stock masses</a:t>
            </a:r>
            <a:endParaRPr lang="en-US" sz="1300" dirty="0"/>
          </a:p>
        </p:txBody>
      </p:sp>
      <p:sp>
        <p:nvSpPr>
          <p:cNvPr id="8" name="chip-Done"/>
          <p:cNvSpPr/>
          <p:nvPr/>
        </p:nvSpPr>
        <p:spPr>
          <a:xfrm>
            <a:off x="809244" y="4005072"/>
            <a:ext cx="123444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882396" y="4069080"/>
            <a:ext cx="182880" cy="182880"/>
          </a:xfrm>
          <a:prstGeom prst="rect">
            <a:avLst/>
          </a:prstGeom>
        </p:spPr>
      </p:pic>
      <p:sp>
        <p:nvSpPr>
          <p:cNvPr id="10" name="Text 6"/>
          <p:cNvSpPr txBox="1"/>
          <p:nvPr/>
        </p:nvSpPr>
        <p:spPr>
          <a:xfrm>
            <a:off x="1101852" y="4005072"/>
            <a:ext cx="905256" cy="310896"/>
          </a:xfrm>
          <a:prstGeom prst="rect">
            <a:avLst/>
          </a:prstGeom>
          <a:noFill/>
          <a:ln/>
        </p:spPr>
        <p:txBody>
          <a:bodyPr wrap="square" lIns="0" tIns="0" rIns="0" bIns="0" rtlCol="0" anchor="ctr"/>
          <a:lstStyle/>
          <a:p>
            <a:pPr marL="0" indent="0">
              <a:buNone/>
            </a:pPr>
            <a:r>
              <a:rPr lang="en-US" sz="1100" b="1" dirty="0">
                <a:solidFill>
                  <a:srgbClr val="FFFFFF"/>
                </a:solidFill>
              </a:rPr>
              <a:t>Done</a:t>
            </a:r>
            <a:endParaRPr lang="en-US" sz="1100" dirty="0"/>
          </a:p>
        </p:txBody>
      </p:sp>
      <p:sp>
        <p:nvSpPr>
          <p:cNvPr id="11" name="step-1"/>
          <p:cNvSpPr/>
          <p:nvPr/>
        </p:nvSpPr>
        <p:spPr>
          <a:xfrm>
            <a:off x="2414016"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12" name="Shape 8"/>
          <p:cNvSpPr/>
          <p:nvPr/>
        </p:nvSpPr>
        <p:spPr>
          <a:xfrm>
            <a:off x="2926080" y="1554480"/>
            <a:ext cx="731520" cy="731520"/>
          </a:xfrm>
          <a:prstGeom prst="ellipse">
            <a:avLst/>
          </a:prstGeom>
          <a:solidFill>
            <a:schemeClr val="tx2"/>
          </a:solidFill>
          <a:ln w="12700">
            <a:solidFill>
              <a:schemeClr val="tx2"/>
            </a:solidFill>
            <a:prstDash val="solid"/>
          </a:ln>
        </p:spPr>
        <p:txBody>
          <a:bodyPr/>
          <a:lstStyle/>
          <a:p>
            <a:endParaRPr lang="en-IN"/>
          </a:p>
        </p:txBody>
      </p:sp>
      <p:pic>
        <p:nvPicPr>
          <p:cNvPr id="13" name="Image 2" descr="preencoded.png"/>
          <p:cNvPicPr>
            <a:picLocks noChangeAspect="1"/>
          </p:cNvPicPr>
          <p:nvPr/>
        </p:nvPicPr>
        <p:blipFill>
          <a:blip r:embed="rId5"/>
          <a:stretch>
            <a:fillRect/>
          </a:stretch>
        </p:blipFill>
        <p:spPr>
          <a:xfrm>
            <a:off x="3099816" y="1728216"/>
            <a:ext cx="384048" cy="384048"/>
          </a:xfrm>
          <a:prstGeom prst="rect">
            <a:avLst/>
          </a:prstGeom>
        </p:spPr>
      </p:pic>
      <p:sp>
        <p:nvSpPr>
          <p:cNvPr id="14" name="Text 9"/>
          <p:cNvSpPr txBox="1"/>
          <p:nvPr/>
        </p:nvSpPr>
        <p:spPr>
          <a:xfrm>
            <a:off x="2505456"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2. Stocks</a:t>
            </a:r>
            <a:endParaRPr lang="en-US" sz="1500" dirty="0"/>
          </a:p>
        </p:txBody>
      </p:sp>
      <p:sp>
        <p:nvSpPr>
          <p:cNvPr id="15" name="Text 10"/>
          <p:cNvSpPr txBox="1"/>
          <p:nvPr/>
        </p:nvSpPr>
        <p:spPr>
          <a:xfrm>
            <a:off x="2523744"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450 mM metal acetates, 180 mM BDC → 90 mM (HTEL staff)</a:t>
            </a:r>
            <a:endParaRPr lang="en-US" sz="1300" dirty="0"/>
          </a:p>
        </p:txBody>
      </p:sp>
      <p:sp>
        <p:nvSpPr>
          <p:cNvPr id="16" name="chip-Done"/>
          <p:cNvSpPr/>
          <p:nvPr/>
        </p:nvSpPr>
        <p:spPr>
          <a:xfrm>
            <a:off x="2674620" y="4005072"/>
            <a:ext cx="123444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17" name="Image 3" descr="preencoded.png"/>
          <p:cNvPicPr>
            <a:picLocks noChangeAspect="1"/>
          </p:cNvPicPr>
          <p:nvPr/>
        </p:nvPicPr>
        <p:blipFill>
          <a:blip r:embed="rId4"/>
          <a:stretch>
            <a:fillRect/>
          </a:stretch>
        </p:blipFill>
        <p:spPr>
          <a:xfrm>
            <a:off x="2747772" y="4069080"/>
            <a:ext cx="182880" cy="182880"/>
          </a:xfrm>
          <a:prstGeom prst="rect">
            <a:avLst/>
          </a:prstGeom>
        </p:spPr>
      </p:pic>
      <p:sp>
        <p:nvSpPr>
          <p:cNvPr id="18" name="Text 12"/>
          <p:cNvSpPr txBox="1"/>
          <p:nvPr/>
        </p:nvSpPr>
        <p:spPr>
          <a:xfrm>
            <a:off x="2967228" y="4005072"/>
            <a:ext cx="905256" cy="310896"/>
          </a:xfrm>
          <a:prstGeom prst="rect">
            <a:avLst/>
          </a:prstGeom>
          <a:noFill/>
          <a:ln/>
        </p:spPr>
        <p:txBody>
          <a:bodyPr wrap="square" lIns="0" tIns="0" rIns="0" bIns="0" rtlCol="0" anchor="ctr"/>
          <a:lstStyle/>
          <a:p>
            <a:pPr marL="0" indent="0">
              <a:buNone/>
            </a:pPr>
            <a:r>
              <a:rPr lang="en-US" sz="1100" b="1" dirty="0">
                <a:solidFill>
                  <a:srgbClr val="FFFFFF"/>
                </a:solidFill>
              </a:rPr>
              <a:t>Done</a:t>
            </a:r>
            <a:endParaRPr lang="en-US" sz="1100" dirty="0"/>
          </a:p>
        </p:txBody>
      </p:sp>
      <p:sp>
        <p:nvSpPr>
          <p:cNvPr id="19" name="step-2"/>
          <p:cNvSpPr/>
          <p:nvPr/>
        </p:nvSpPr>
        <p:spPr>
          <a:xfrm>
            <a:off x="4279392"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20" name="Shape 14"/>
          <p:cNvSpPr/>
          <p:nvPr/>
        </p:nvSpPr>
        <p:spPr>
          <a:xfrm>
            <a:off x="4791456" y="1554480"/>
            <a:ext cx="731520" cy="731520"/>
          </a:xfrm>
          <a:prstGeom prst="ellipse">
            <a:avLst/>
          </a:prstGeom>
          <a:solidFill>
            <a:schemeClr val="tx2"/>
          </a:solidFill>
          <a:ln w="12700">
            <a:solidFill>
              <a:schemeClr val="tx2"/>
            </a:solidFill>
            <a:prstDash val="solid"/>
          </a:ln>
        </p:spPr>
        <p:txBody>
          <a:bodyPr/>
          <a:lstStyle/>
          <a:p>
            <a:endParaRPr lang="en-IN"/>
          </a:p>
        </p:txBody>
      </p:sp>
      <p:pic>
        <p:nvPicPr>
          <p:cNvPr id="21" name="Image 4" descr="preencoded.png"/>
          <p:cNvPicPr>
            <a:picLocks noChangeAspect="1"/>
          </p:cNvPicPr>
          <p:nvPr/>
        </p:nvPicPr>
        <p:blipFill>
          <a:blip r:embed="rId6"/>
          <a:stretch>
            <a:fillRect/>
          </a:stretch>
        </p:blipFill>
        <p:spPr>
          <a:xfrm>
            <a:off x="4965192" y="1728216"/>
            <a:ext cx="384048" cy="384048"/>
          </a:xfrm>
          <a:prstGeom prst="rect">
            <a:avLst/>
          </a:prstGeom>
        </p:spPr>
      </p:pic>
      <p:sp>
        <p:nvSpPr>
          <p:cNvPr id="22" name="Text 15"/>
          <p:cNvSpPr txBox="1"/>
          <p:nvPr/>
        </p:nvSpPr>
        <p:spPr>
          <a:xfrm>
            <a:off x="4370832"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3. OT-2 dispensing</a:t>
            </a:r>
            <a:endParaRPr lang="en-US" sz="1500" dirty="0"/>
          </a:p>
        </p:txBody>
      </p:sp>
      <p:sp>
        <p:nvSpPr>
          <p:cNvPr id="23" name="Text 16"/>
          <p:cNvSpPr txBox="1"/>
          <p:nvPr/>
        </p:nvSpPr>
        <p:spPr>
          <a:xfrm>
            <a:off x="4389120"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P20 + P300, 420 transfers, BDC added last, 8 tips</a:t>
            </a:r>
            <a:endParaRPr lang="en-US" sz="1300" dirty="0"/>
          </a:p>
        </p:txBody>
      </p:sp>
      <p:sp>
        <p:nvSpPr>
          <p:cNvPr id="24" name="chip-Done"/>
          <p:cNvSpPr/>
          <p:nvPr/>
        </p:nvSpPr>
        <p:spPr>
          <a:xfrm>
            <a:off x="4539996" y="4005072"/>
            <a:ext cx="123444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25" name="Image 5" descr="preencoded.png"/>
          <p:cNvPicPr>
            <a:picLocks noChangeAspect="1"/>
          </p:cNvPicPr>
          <p:nvPr/>
        </p:nvPicPr>
        <p:blipFill>
          <a:blip r:embed="rId4"/>
          <a:stretch>
            <a:fillRect/>
          </a:stretch>
        </p:blipFill>
        <p:spPr>
          <a:xfrm>
            <a:off x="4613148" y="4069080"/>
            <a:ext cx="182880" cy="182880"/>
          </a:xfrm>
          <a:prstGeom prst="rect">
            <a:avLst/>
          </a:prstGeom>
        </p:spPr>
      </p:pic>
      <p:sp>
        <p:nvSpPr>
          <p:cNvPr id="26" name="Text 18"/>
          <p:cNvSpPr txBox="1"/>
          <p:nvPr/>
        </p:nvSpPr>
        <p:spPr>
          <a:xfrm>
            <a:off x="4832604" y="4005072"/>
            <a:ext cx="905256" cy="310896"/>
          </a:xfrm>
          <a:prstGeom prst="rect">
            <a:avLst/>
          </a:prstGeom>
          <a:noFill/>
          <a:ln/>
        </p:spPr>
        <p:txBody>
          <a:bodyPr wrap="square" lIns="0" tIns="0" rIns="0" bIns="0" rtlCol="0" anchor="ctr"/>
          <a:lstStyle/>
          <a:p>
            <a:pPr marL="0" indent="0">
              <a:buNone/>
            </a:pPr>
            <a:r>
              <a:rPr lang="en-US" sz="1100" b="1" dirty="0">
                <a:solidFill>
                  <a:srgbClr val="FFFFFF"/>
                </a:solidFill>
              </a:rPr>
              <a:t>Done</a:t>
            </a:r>
            <a:endParaRPr lang="en-US" sz="1100" dirty="0"/>
          </a:p>
        </p:txBody>
      </p:sp>
      <p:sp>
        <p:nvSpPr>
          <p:cNvPr id="27" name="step-3"/>
          <p:cNvSpPr/>
          <p:nvPr/>
        </p:nvSpPr>
        <p:spPr>
          <a:xfrm>
            <a:off x="6144768"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28" name="Shape 20"/>
          <p:cNvSpPr/>
          <p:nvPr/>
        </p:nvSpPr>
        <p:spPr>
          <a:xfrm>
            <a:off x="6656832" y="1554480"/>
            <a:ext cx="731520" cy="731520"/>
          </a:xfrm>
          <a:prstGeom prst="ellipse">
            <a:avLst/>
          </a:prstGeom>
          <a:solidFill>
            <a:schemeClr val="tx2"/>
          </a:solidFill>
          <a:ln w="12700">
            <a:solidFill>
              <a:schemeClr val="tx2"/>
            </a:solidFill>
            <a:prstDash val="solid"/>
          </a:ln>
        </p:spPr>
        <p:txBody>
          <a:bodyPr/>
          <a:lstStyle/>
          <a:p>
            <a:endParaRPr lang="en-IN"/>
          </a:p>
        </p:txBody>
      </p:sp>
      <p:pic>
        <p:nvPicPr>
          <p:cNvPr id="29" name="Image 6" descr="preencoded.png"/>
          <p:cNvPicPr>
            <a:picLocks noChangeAspect="1"/>
          </p:cNvPicPr>
          <p:nvPr/>
        </p:nvPicPr>
        <p:blipFill>
          <a:blip r:embed="rId7"/>
          <a:stretch>
            <a:fillRect/>
          </a:stretch>
        </p:blipFill>
        <p:spPr>
          <a:xfrm>
            <a:off x="6830568" y="1728216"/>
            <a:ext cx="384048" cy="384048"/>
          </a:xfrm>
          <a:prstGeom prst="rect">
            <a:avLst/>
          </a:prstGeom>
        </p:spPr>
      </p:pic>
      <p:sp>
        <p:nvSpPr>
          <p:cNvPr id="30" name="Text 21"/>
          <p:cNvSpPr txBox="1"/>
          <p:nvPr/>
        </p:nvSpPr>
        <p:spPr>
          <a:xfrm>
            <a:off x="6236208"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4. Reaction</a:t>
            </a:r>
            <a:endParaRPr lang="en-US" sz="1500" dirty="0"/>
          </a:p>
        </p:txBody>
      </p:sp>
      <p:sp>
        <p:nvSpPr>
          <p:cNvPr id="31" name="Text 22"/>
          <p:cNvSpPr txBox="1"/>
          <p:nvPr/>
        </p:nvSpPr>
        <p:spPr>
          <a:xfrm>
            <a:off x="6254496"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Capped GC vials, 13 h at 120 °C</a:t>
            </a:r>
            <a:endParaRPr lang="en-US" sz="1300" dirty="0"/>
          </a:p>
        </p:txBody>
      </p:sp>
      <p:sp>
        <p:nvSpPr>
          <p:cNvPr id="32" name="chip-Done"/>
          <p:cNvSpPr/>
          <p:nvPr/>
        </p:nvSpPr>
        <p:spPr>
          <a:xfrm>
            <a:off x="6405372" y="4005072"/>
            <a:ext cx="123444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33" name="Image 7" descr="preencoded.png"/>
          <p:cNvPicPr>
            <a:picLocks noChangeAspect="1"/>
          </p:cNvPicPr>
          <p:nvPr/>
        </p:nvPicPr>
        <p:blipFill>
          <a:blip r:embed="rId4"/>
          <a:stretch>
            <a:fillRect/>
          </a:stretch>
        </p:blipFill>
        <p:spPr>
          <a:xfrm>
            <a:off x="6478524" y="4069080"/>
            <a:ext cx="182880" cy="182880"/>
          </a:xfrm>
          <a:prstGeom prst="rect">
            <a:avLst/>
          </a:prstGeom>
        </p:spPr>
      </p:pic>
      <p:sp>
        <p:nvSpPr>
          <p:cNvPr id="34" name="Text 24"/>
          <p:cNvSpPr txBox="1"/>
          <p:nvPr/>
        </p:nvSpPr>
        <p:spPr>
          <a:xfrm>
            <a:off x="6697980" y="4005072"/>
            <a:ext cx="905256" cy="310896"/>
          </a:xfrm>
          <a:prstGeom prst="rect">
            <a:avLst/>
          </a:prstGeom>
          <a:noFill/>
          <a:ln/>
        </p:spPr>
        <p:txBody>
          <a:bodyPr wrap="square" lIns="0" tIns="0" rIns="0" bIns="0" rtlCol="0" anchor="ctr"/>
          <a:lstStyle/>
          <a:p>
            <a:pPr marL="0" indent="0">
              <a:buNone/>
            </a:pPr>
            <a:r>
              <a:rPr lang="en-US" sz="1100" b="1" dirty="0">
                <a:solidFill>
                  <a:srgbClr val="FFFFFF"/>
                </a:solidFill>
              </a:rPr>
              <a:t>Done</a:t>
            </a:r>
            <a:endParaRPr lang="en-US" sz="1100" dirty="0"/>
          </a:p>
        </p:txBody>
      </p:sp>
      <p:sp>
        <p:nvSpPr>
          <p:cNvPr id="35" name="step-4"/>
          <p:cNvSpPr/>
          <p:nvPr/>
        </p:nvSpPr>
        <p:spPr>
          <a:xfrm>
            <a:off x="8010144"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36" name="Shape 26"/>
          <p:cNvSpPr/>
          <p:nvPr/>
        </p:nvSpPr>
        <p:spPr>
          <a:xfrm>
            <a:off x="8522208" y="1554480"/>
            <a:ext cx="731520" cy="731520"/>
          </a:xfrm>
          <a:prstGeom prst="ellipse">
            <a:avLst/>
          </a:prstGeom>
          <a:solidFill>
            <a:schemeClr val="tx2"/>
          </a:solidFill>
          <a:ln w="12700">
            <a:solidFill>
              <a:schemeClr val="tx2"/>
            </a:solidFill>
            <a:prstDash val="solid"/>
          </a:ln>
        </p:spPr>
        <p:txBody>
          <a:bodyPr/>
          <a:lstStyle/>
          <a:p>
            <a:endParaRPr lang="en-IN"/>
          </a:p>
        </p:txBody>
      </p:sp>
      <p:pic>
        <p:nvPicPr>
          <p:cNvPr id="37" name="Image 8" descr="preencoded.png"/>
          <p:cNvPicPr>
            <a:picLocks noChangeAspect="1"/>
          </p:cNvPicPr>
          <p:nvPr/>
        </p:nvPicPr>
        <p:blipFill>
          <a:blip r:embed="rId8"/>
          <a:stretch>
            <a:fillRect/>
          </a:stretch>
        </p:blipFill>
        <p:spPr>
          <a:xfrm>
            <a:off x="8695944" y="1728216"/>
            <a:ext cx="384048" cy="384048"/>
          </a:xfrm>
          <a:prstGeom prst="rect">
            <a:avLst/>
          </a:prstGeom>
        </p:spPr>
      </p:pic>
      <p:sp>
        <p:nvSpPr>
          <p:cNvPr id="38" name="Text 27"/>
          <p:cNvSpPr txBox="1"/>
          <p:nvPr/>
        </p:nvSpPr>
        <p:spPr>
          <a:xfrm>
            <a:off x="8101584"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5. UV–Vis</a:t>
            </a:r>
            <a:endParaRPr lang="en-US" sz="1500" dirty="0"/>
          </a:p>
        </p:txBody>
      </p:sp>
      <p:sp>
        <p:nvSpPr>
          <p:cNvPr id="39" name="Text 28"/>
          <p:cNvSpPr txBox="1"/>
          <p:nvPr/>
        </p:nvSpPr>
        <p:spPr>
          <a:xfrm>
            <a:off x="8119872"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96/96 spectra, 400–900 nm, Tecan Infinite 200Pro</a:t>
            </a:r>
            <a:endParaRPr lang="en-US" sz="1300" dirty="0"/>
          </a:p>
        </p:txBody>
      </p:sp>
      <p:sp>
        <p:nvSpPr>
          <p:cNvPr id="40" name="chip-Done"/>
          <p:cNvSpPr/>
          <p:nvPr/>
        </p:nvSpPr>
        <p:spPr>
          <a:xfrm>
            <a:off x="8270748" y="4005072"/>
            <a:ext cx="123444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41" name="Image 9" descr="preencoded.png"/>
          <p:cNvPicPr>
            <a:picLocks noChangeAspect="1"/>
          </p:cNvPicPr>
          <p:nvPr/>
        </p:nvPicPr>
        <p:blipFill>
          <a:blip r:embed="rId4"/>
          <a:stretch>
            <a:fillRect/>
          </a:stretch>
        </p:blipFill>
        <p:spPr>
          <a:xfrm>
            <a:off x="8343900" y="4069080"/>
            <a:ext cx="182880" cy="182880"/>
          </a:xfrm>
          <a:prstGeom prst="rect">
            <a:avLst/>
          </a:prstGeom>
        </p:spPr>
      </p:pic>
      <p:sp>
        <p:nvSpPr>
          <p:cNvPr id="42" name="Text 30"/>
          <p:cNvSpPr txBox="1"/>
          <p:nvPr/>
        </p:nvSpPr>
        <p:spPr>
          <a:xfrm>
            <a:off x="8563356" y="4005072"/>
            <a:ext cx="905256" cy="310896"/>
          </a:xfrm>
          <a:prstGeom prst="rect">
            <a:avLst/>
          </a:prstGeom>
          <a:noFill/>
          <a:ln/>
        </p:spPr>
        <p:txBody>
          <a:bodyPr wrap="square" lIns="0" tIns="0" rIns="0" bIns="0" rtlCol="0" anchor="ctr"/>
          <a:lstStyle/>
          <a:p>
            <a:pPr marL="0" indent="0">
              <a:buNone/>
            </a:pPr>
            <a:r>
              <a:rPr lang="en-US" sz="1100" b="1" dirty="0">
                <a:solidFill>
                  <a:srgbClr val="FFFFFF"/>
                </a:solidFill>
              </a:rPr>
              <a:t>Done</a:t>
            </a:r>
            <a:endParaRPr lang="en-US" sz="1100" dirty="0"/>
          </a:p>
        </p:txBody>
      </p:sp>
      <p:sp>
        <p:nvSpPr>
          <p:cNvPr id="43" name="step-5"/>
          <p:cNvSpPr/>
          <p:nvPr/>
        </p:nvSpPr>
        <p:spPr>
          <a:xfrm>
            <a:off x="9875520" y="1371600"/>
            <a:ext cx="1755648" cy="3063240"/>
          </a:xfrm>
          <a:prstGeom prst="roundRect">
            <a:avLst>
              <a:gd name="adj" fmla="val 5208"/>
            </a:avLst>
          </a:prstGeom>
          <a:solidFill>
            <a:schemeClr val="bg2"/>
          </a:solidFill>
          <a:ln w="12700">
            <a:solidFill>
              <a:schemeClr val="bg2"/>
            </a:solidFill>
            <a:prstDash val="solid"/>
          </a:ln>
        </p:spPr>
        <p:txBody>
          <a:bodyPr/>
          <a:lstStyle/>
          <a:p>
            <a:endParaRPr lang="en-IN"/>
          </a:p>
        </p:txBody>
      </p:sp>
      <p:sp>
        <p:nvSpPr>
          <p:cNvPr id="44" name="Shape 32"/>
          <p:cNvSpPr/>
          <p:nvPr/>
        </p:nvSpPr>
        <p:spPr>
          <a:xfrm>
            <a:off x="10387584" y="1554480"/>
            <a:ext cx="731520" cy="731520"/>
          </a:xfrm>
          <a:prstGeom prst="ellipse">
            <a:avLst/>
          </a:prstGeom>
          <a:solidFill>
            <a:schemeClr val="accent6"/>
          </a:solidFill>
          <a:ln w="12700">
            <a:solidFill>
              <a:schemeClr val="accent6"/>
            </a:solidFill>
            <a:prstDash val="solid"/>
          </a:ln>
        </p:spPr>
        <p:txBody>
          <a:bodyPr/>
          <a:lstStyle/>
          <a:p>
            <a:endParaRPr lang="en-IN"/>
          </a:p>
        </p:txBody>
      </p:sp>
      <p:pic>
        <p:nvPicPr>
          <p:cNvPr id="45" name="Image 10" descr="preencoded.png"/>
          <p:cNvPicPr>
            <a:picLocks noChangeAspect="1"/>
          </p:cNvPicPr>
          <p:nvPr/>
        </p:nvPicPr>
        <p:blipFill>
          <a:blip r:embed="rId9"/>
          <a:stretch>
            <a:fillRect/>
          </a:stretch>
        </p:blipFill>
        <p:spPr>
          <a:xfrm>
            <a:off x="10561320" y="1728216"/>
            <a:ext cx="384048" cy="384048"/>
          </a:xfrm>
          <a:prstGeom prst="rect">
            <a:avLst/>
          </a:prstGeom>
        </p:spPr>
      </p:pic>
      <p:sp>
        <p:nvSpPr>
          <p:cNvPr id="46" name="Text 33"/>
          <p:cNvSpPr txBox="1"/>
          <p:nvPr/>
        </p:nvSpPr>
        <p:spPr>
          <a:xfrm>
            <a:off x="9966960" y="2395728"/>
            <a:ext cx="1572768" cy="411480"/>
          </a:xfrm>
          <a:prstGeom prst="rect">
            <a:avLst/>
          </a:prstGeom>
          <a:noFill/>
          <a:ln/>
        </p:spPr>
        <p:txBody>
          <a:bodyPr wrap="square" lIns="0" tIns="0" rIns="0" bIns="0" rtlCol="0" anchor="ctr"/>
          <a:lstStyle/>
          <a:p>
            <a:pPr marL="0" indent="0" algn="ctr">
              <a:buNone/>
            </a:pPr>
            <a:r>
              <a:rPr lang="en-US" sz="1500" b="1" dirty="0">
                <a:solidFill>
                  <a:srgbClr val="16324F"/>
                </a:solidFill>
              </a:rPr>
              <a:t>6. HPLC–MS + PXRD</a:t>
            </a:r>
            <a:endParaRPr lang="en-US" sz="1500" dirty="0"/>
          </a:p>
        </p:txBody>
      </p:sp>
      <p:sp>
        <p:nvSpPr>
          <p:cNvPr id="47" name="Text 34"/>
          <p:cNvSpPr txBox="1"/>
          <p:nvPr/>
        </p:nvSpPr>
        <p:spPr>
          <a:xfrm>
            <a:off x="9985248" y="2834640"/>
            <a:ext cx="1536192" cy="1097280"/>
          </a:xfrm>
          <a:prstGeom prst="rect">
            <a:avLst/>
          </a:prstGeom>
          <a:noFill/>
          <a:ln/>
        </p:spPr>
        <p:txBody>
          <a:bodyPr wrap="square" lIns="0" tIns="0" rIns="0" bIns="0" rtlCol="0" anchor="t"/>
          <a:lstStyle/>
          <a:p>
            <a:pPr marL="0" indent="0" algn="ctr">
              <a:buNone/>
            </a:pPr>
            <a:r>
              <a:rPr lang="en-US" sz="1300" dirty="0">
                <a:solidFill>
                  <a:srgbClr val="1B1F24"/>
                </a:solidFill>
              </a:rPr>
              <a:t>Mass and structure of the leads</a:t>
            </a:r>
            <a:endParaRPr lang="en-US" sz="1300" dirty="0"/>
          </a:p>
        </p:txBody>
      </p:sp>
      <p:sp>
        <p:nvSpPr>
          <p:cNvPr id="48" name="chip-Pending"/>
          <p:cNvSpPr/>
          <p:nvPr/>
        </p:nvSpPr>
        <p:spPr>
          <a:xfrm>
            <a:off x="10136124" y="4005072"/>
            <a:ext cx="1234440" cy="310896"/>
          </a:xfrm>
          <a:prstGeom prst="roundRect">
            <a:avLst>
              <a:gd name="adj" fmla="val 23529"/>
            </a:avLst>
          </a:prstGeom>
          <a:solidFill>
            <a:srgbClr val="FAB219"/>
          </a:solidFill>
          <a:ln w="12700">
            <a:solidFill>
              <a:srgbClr val="FAB219"/>
            </a:solidFill>
            <a:prstDash val="solid"/>
          </a:ln>
        </p:spPr>
        <p:txBody>
          <a:bodyPr/>
          <a:lstStyle/>
          <a:p>
            <a:endParaRPr lang="en-IN"/>
          </a:p>
        </p:txBody>
      </p:sp>
      <p:pic>
        <p:nvPicPr>
          <p:cNvPr id="49" name="Image 11" descr="preencoded.png"/>
          <p:cNvPicPr>
            <a:picLocks noChangeAspect="1"/>
          </p:cNvPicPr>
          <p:nvPr/>
        </p:nvPicPr>
        <p:blipFill>
          <a:blip r:embed="rId10"/>
          <a:stretch>
            <a:fillRect/>
          </a:stretch>
        </p:blipFill>
        <p:spPr>
          <a:xfrm>
            <a:off x="10209276" y="4069080"/>
            <a:ext cx="182880" cy="182880"/>
          </a:xfrm>
          <a:prstGeom prst="rect">
            <a:avLst/>
          </a:prstGeom>
        </p:spPr>
      </p:pic>
      <p:sp>
        <p:nvSpPr>
          <p:cNvPr id="50" name="Text 36"/>
          <p:cNvSpPr txBox="1"/>
          <p:nvPr/>
        </p:nvSpPr>
        <p:spPr>
          <a:xfrm>
            <a:off x="10428732" y="4005072"/>
            <a:ext cx="905256" cy="310896"/>
          </a:xfrm>
          <a:prstGeom prst="rect">
            <a:avLst/>
          </a:prstGeom>
          <a:noFill/>
          <a:ln/>
        </p:spPr>
        <p:txBody>
          <a:bodyPr wrap="square" lIns="0" tIns="0" rIns="0" bIns="0" rtlCol="0" anchor="ctr"/>
          <a:lstStyle/>
          <a:p>
            <a:pPr marL="0" indent="0">
              <a:buNone/>
            </a:pPr>
            <a:r>
              <a:rPr lang="en-US" sz="1100" b="1" dirty="0">
                <a:solidFill>
                  <a:srgbClr val="1B1F24"/>
                </a:solidFill>
              </a:rPr>
              <a:t>Pending</a:t>
            </a:r>
            <a:endParaRPr lang="en-US" sz="1100" dirty="0"/>
          </a:p>
        </p:txBody>
      </p:sp>
      <p:sp>
        <p:nvSpPr>
          <p:cNvPr id="51" name="deviations"/>
          <p:cNvSpPr/>
          <p:nvPr/>
        </p:nvSpPr>
        <p:spPr>
          <a:xfrm>
            <a:off x="548640" y="4709160"/>
            <a:ext cx="11064240" cy="1325880"/>
          </a:xfrm>
          <a:prstGeom prst="roundRect">
            <a:avLst>
              <a:gd name="adj" fmla="val 6897"/>
            </a:avLst>
          </a:prstGeom>
          <a:solidFill>
            <a:srgbClr val="FFFFFF"/>
          </a:solidFill>
          <a:ln w="19050">
            <a:solidFill>
              <a:schemeClr val="bg2"/>
            </a:solidFill>
            <a:prstDash val="solid"/>
          </a:ln>
        </p:spPr>
        <p:txBody>
          <a:bodyPr/>
          <a:lstStyle/>
          <a:p>
            <a:endParaRPr lang="en-IN"/>
          </a:p>
        </p:txBody>
      </p:sp>
      <p:sp>
        <p:nvSpPr>
          <p:cNvPr id="52" name="Text 38"/>
          <p:cNvSpPr txBox="1"/>
          <p:nvPr/>
        </p:nvSpPr>
        <p:spPr>
          <a:xfrm>
            <a:off x="731520" y="4800600"/>
            <a:ext cx="10698480" cy="1188720"/>
          </a:xfrm>
          <a:prstGeom prst="rect">
            <a:avLst/>
          </a:prstGeom>
          <a:noFill/>
          <a:ln/>
        </p:spPr>
        <p:txBody>
          <a:bodyPr wrap="square" rtlCol="0" anchor="t"/>
          <a:lstStyle/>
          <a:p>
            <a:pPr marL="0" indent="0">
              <a:spcAft>
                <a:spcPts val="200"/>
              </a:spcAft>
              <a:buNone/>
            </a:pPr>
            <a:r>
              <a:rPr lang="en-US" sz="1400" b="1" dirty="0">
                <a:solidFill>
                  <a:srgbClr val="16324F"/>
                </a:solidFill>
              </a:rPr>
              <a:t>What changed on the day</a:t>
            </a:r>
            <a:endParaRPr lang="en-US" sz="1400" dirty="0"/>
          </a:p>
          <a:p>
            <a:pPr marL="342900" indent="-342900">
              <a:spcAft>
                <a:spcPts val="200"/>
              </a:spcAft>
              <a:buSzPct val="100000"/>
              <a:buChar char="•"/>
            </a:pPr>
            <a:r>
              <a:rPr lang="en-US" sz="1400" dirty="0">
                <a:solidFill>
                  <a:srgbClr val="1B1F24"/>
                </a:solidFill>
              </a:rPr>
              <a:t>UV–Vis used 50 µL aliquots in DMF-safe glass inserts (planned: 200 µL).</a:t>
            </a:r>
            <a:endParaRPr lang="en-US" sz="1400" dirty="0"/>
          </a:p>
          <a:p>
            <a:pPr marL="342900" indent="-342900">
              <a:spcAft>
                <a:spcPts val="200"/>
              </a:spcAft>
              <a:buSzPct val="100000"/>
              <a:buChar char="•"/>
            </a:pPr>
            <a:r>
              <a:rPr lang="en-US" sz="1400" dirty="0">
                <a:solidFill>
                  <a:srgbClr val="1B1F24"/>
                </a:solidFill>
              </a:rPr>
              <a:t>No DMF blank was recorded, so absolute absorbance includes the vessel background.</a:t>
            </a:r>
            <a:endParaRPr lang="en-US" sz="1400" dirty="0"/>
          </a:p>
          <a:p>
            <a:pPr marL="342900" indent="-342900">
              <a:spcAft>
                <a:spcPts val="200"/>
              </a:spcAft>
              <a:buSzPct val="100000"/>
              <a:buChar char="•"/>
            </a:pPr>
            <a:r>
              <a:rPr lang="en-US" sz="1400" dirty="0">
                <a:solidFill>
                  <a:srgbClr val="1B1F24"/>
                </a:solidFill>
              </a:rPr>
              <a:t>HPLC–MS and PXRD are not done yet, so everything here comes from UV–Vis.</a:t>
            </a:r>
            <a:endParaRPr lang="en-US" sz="1400" dirty="0"/>
          </a:p>
        </p:txBody>
      </p:sp>
      <p:sp>
        <p:nvSpPr>
          <p:cNvPr id="53"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Raw spectra: weak bands on a strong scattering background</a:t>
            </a:r>
            <a:endParaRPr lang="en-US" sz="3000" dirty="0"/>
          </a:p>
        </p:txBody>
      </p:sp>
      <p:pic>
        <p:nvPicPr>
          <p:cNvPr id="3" name="fig-spectra" descr="UV-Vis spectra of all 96 reactions in four panels by metal to ligand ratio, coloured by metal pair"/>
          <p:cNvPicPr>
            <a:picLocks noChangeAspect="1"/>
          </p:cNvPicPr>
          <p:nvPr/>
        </p:nvPicPr>
        <p:blipFill>
          <a:blip r:embed="rId3"/>
          <a:stretch>
            <a:fillRect/>
          </a:stretch>
        </p:blipFill>
        <p:spPr>
          <a:xfrm>
            <a:off x="523938" y="1188720"/>
            <a:ext cx="7547484" cy="5120640"/>
          </a:xfrm>
          <a:prstGeom prst="rect">
            <a:avLst/>
          </a:prstGeom>
        </p:spPr>
      </p:pic>
      <p:sp>
        <p:nvSpPr>
          <p:cNvPr id="4" name="Text 1"/>
          <p:cNvSpPr txBox="1"/>
          <p:nvPr/>
        </p:nvSpPr>
        <p:spPr>
          <a:xfrm>
            <a:off x="8412480" y="1325880"/>
            <a:ext cx="3200400" cy="1234440"/>
          </a:xfrm>
          <a:prstGeom prst="rect">
            <a:avLst/>
          </a:prstGeom>
          <a:noFill/>
          <a:ln/>
        </p:spPr>
        <p:txBody>
          <a:bodyPr wrap="square" lIns="0" tIns="0" rIns="0" bIns="0" rtlCol="0" anchor="t"/>
          <a:lstStyle/>
          <a:p>
            <a:pPr marL="0" indent="0">
              <a:buNone/>
            </a:pPr>
            <a:r>
              <a:rPr lang="en-US" sz="4000" b="1" dirty="0">
                <a:solidFill>
                  <a:srgbClr val="B8693A"/>
                </a:solidFill>
                <a:latin typeface="Cambria" pitchFamily="34" charset="0"/>
                <a:ea typeface="Cambria" pitchFamily="34" charset="-122"/>
                <a:cs typeface="Cambria" pitchFamily="34" charset="-120"/>
              </a:rPr>
              <a:t>96 / 96</a:t>
            </a:r>
            <a:endParaRPr lang="en-US" sz="4000" dirty="0"/>
          </a:p>
          <a:p>
            <a:pPr marL="0" indent="0">
              <a:buNone/>
            </a:pPr>
            <a:r>
              <a:rPr lang="en-US" sz="1400" dirty="0">
                <a:solidFill>
                  <a:srgbClr val="5F6670"/>
                </a:solidFill>
              </a:rPr>
              <a:t>spectra collected</a:t>
            </a:r>
            <a:endParaRPr lang="en-US" sz="4000" dirty="0"/>
          </a:p>
        </p:txBody>
      </p:sp>
      <p:sp>
        <p:nvSpPr>
          <p:cNvPr id="5" name="Text 2"/>
          <p:cNvSpPr txBox="1"/>
          <p:nvPr/>
        </p:nvSpPr>
        <p:spPr>
          <a:xfrm>
            <a:off x="8412480" y="2743200"/>
            <a:ext cx="320040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1F24"/>
                </a:solidFill>
              </a:rPr>
              <a:t>Absorbance stays at 0.2–2 even at 900 nm: suspended solid scatters light.</a:t>
            </a:r>
            <a:endParaRPr lang="en-US" sz="1500" dirty="0"/>
          </a:p>
          <a:p>
            <a:pPr marL="342900" indent="-342900">
              <a:spcAft>
                <a:spcPts val="800"/>
              </a:spcAft>
              <a:buSzPct val="100000"/>
              <a:buChar char="•"/>
            </a:pPr>
            <a:r>
              <a:rPr lang="en-US" sz="1500" dirty="0">
                <a:solidFill>
                  <a:srgbClr val="1B1F24"/>
                </a:solidFill>
              </a:rPr>
              <a:t>Co–Ni wells (blue) are the clearest.</a:t>
            </a:r>
            <a:endParaRPr lang="en-US" sz="1500" dirty="0"/>
          </a:p>
          <a:p>
            <a:pPr marL="342900" indent="-342900">
              <a:spcAft>
                <a:spcPts val="800"/>
              </a:spcAft>
              <a:buSzPct val="100000"/>
              <a:buChar char="•"/>
            </a:pPr>
            <a:r>
              <a:rPr lang="en-US" sz="1500" dirty="0">
                <a:solidFill>
                  <a:srgbClr val="1B1F24"/>
                </a:solidFill>
              </a:rPr>
              <a:t>Bands sit on top near 420, 590 and 700 nm.</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Second derivatives separate bands from scattering</a:t>
            </a:r>
            <a:endParaRPr lang="en-US" sz="3000" dirty="0"/>
          </a:p>
        </p:txBody>
      </p:sp>
      <p:pic>
        <p:nvPicPr>
          <p:cNvPr id="3" name="fig-examples" descr="Absorbance and second-derivative spectra for four representative wells with the four band windows shaded"/>
          <p:cNvPicPr>
            <a:picLocks noChangeAspect="1"/>
          </p:cNvPicPr>
          <p:nvPr/>
        </p:nvPicPr>
        <p:blipFill>
          <a:blip r:embed="rId3"/>
          <a:stretch>
            <a:fillRect/>
          </a:stretch>
        </p:blipFill>
        <p:spPr>
          <a:xfrm>
            <a:off x="511343" y="1188720"/>
            <a:ext cx="6566834" cy="5166360"/>
          </a:xfrm>
          <a:prstGeom prst="rect">
            <a:avLst/>
          </a:prstGeom>
        </p:spPr>
      </p:pic>
      <p:sp>
        <p:nvSpPr>
          <p:cNvPr id="4" name="Shape 1"/>
          <p:cNvSpPr/>
          <p:nvPr/>
        </p:nvSpPr>
        <p:spPr>
          <a:xfrm>
            <a:off x="7498080" y="1371600"/>
            <a:ext cx="502920" cy="502920"/>
          </a:xfrm>
          <a:prstGeom prst="ellipse">
            <a:avLst/>
          </a:prstGeom>
          <a:solidFill>
            <a:schemeClr val="accent1"/>
          </a:solidFill>
          <a:ln w="12700">
            <a:solidFill>
              <a:schemeClr val="accent1"/>
            </a:solidFill>
            <a:prstDash val="solid"/>
          </a:ln>
        </p:spPr>
        <p:txBody>
          <a:bodyPr/>
          <a:lstStyle/>
          <a:p>
            <a:endParaRPr lang="en-IN"/>
          </a:p>
        </p:txBody>
      </p:sp>
      <p:sp>
        <p:nvSpPr>
          <p:cNvPr id="5" name="Text 2"/>
          <p:cNvSpPr txBox="1"/>
          <p:nvPr/>
        </p:nvSpPr>
        <p:spPr>
          <a:xfrm>
            <a:off x="7498080" y="13716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6" name="Text 3"/>
          <p:cNvSpPr txBox="1"/>
          <p:nvPr/>
        </p:nvSpPr>
        <p:spPr>
          <a:xfrm>
            <a:off x="8183880" y="1325880"/>
            <a:ext cx="3474720" cy="1417320"/>
          </a:xfrm>
          <a:prstGeom prst="rect">
            <a:avLst/>
          </a:prstGeom>
          <a:noFill/>
          <a:ln/>
        </p:spPr>
        <p:txBody>
          <a:bodyPr wrap="square" lIns="0" tIns="0" rIns="0" bIns="0" rtlCol="0" anchor="t"/>
          <a:lstStyle/>
          <a:p>
            <a:pPr marL="0" indent="0">
              <a:buNone/>
            </a:pPr>
            <a:r>
              <a:rPr lang="en-US" sz="1600" b="1" dirty="0">
                <a:solidFill>
                  <a:srgbClr val="16324F"/>
                </a:solidFill>
              </a:rPr>
              <a:t>Remove the background</a:t>
            </a:r>
            <a:endParaRPr lang="en-US" sz="1600" dirty="0"/>
          </a:p>
          <a:p>
            <a:pPr marL="0" indent="0">
              <a:buNone/>
            </a:pPr>
            <a:r>
              <a:rPr lang="en-US" sz="1400" dirty="0">
                <a:solidFill>
                  <a:srgbClr val="1B1F24"/>
                </a:solidFill>
              </a:rPr>
              <a:t>Savitzky–Golay second derivative (40 nm window): smooth scattering drops out, bands become peaks.</a:t>
            </a:r>
            <a:endParaRPr lang="en-US" sz="1600" dirty="0"/>
          </a:p>
        </p:txBody>
      </p:sp>
      <p:sp>
        <p:nvSpPr>
          <p:cNvPr id="7" name="Shape 4"/>
          <p:cNvSpPr/>
          <p:nvPr/>
        </p:nvSpPr>
        <p:spPr>
          <a:xfrm>
            <a:off x="7498080" y="2971800"/>
            <a:ext cx="502920" cy="502920"/>
          </a:xfrm>
          <a:prstGeom prst="ellipse">
            <a:avLst/>
          </a:prstGeom>
          <a:solidFill>
            <a:schemeClr val="accent1"/>
          </a:solidFill>
          <a:ln w="12700">
            <a:solidFill>
              <a:schemeClr val="accent1"/>
            </a:solidFill>
            <a:prstDash val="solid"/>
          </a:ln>
        </p:spPr>
        <p:txBody>
          <a:bodyPr/>
          <a:lstStyle/>
          <a:p>
            <a:endParaRPr lang="en-IN"/>
          </a:p>
        </p:txBody>
      </p:sp>
      <p:sp>
        <p:nvSpPr>
          <p:cNvPr id="8" name="Text 5"/>
          <p:cNvSpPr txBox="1"/>
          <p:nvPr/>
        </p:nvSpPr>
        <p:spPr>
          <a:xfrm>
            <a:off x="7498080" y="29718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9" name="Text 6"/>
          <p:cNvSpPr txBox="1"/>
          <p:nvPr/>
        </p:nvSpPr>
        <p:spPr>
          <a:xfrm>
            <a:off x="8183880" y="2926080"/>
            <a:ext cx="3474720" cy="1417320"/>
          </a:xfrm>
          <a:prstGeom prst="rect">
            <a:avLst/>
          </a:prstGeom>
          <a:noFill/>
          <a:ln/>
        </p:spPr>
        <p:txBody>
          <a:bodyPr wrap="square" lIns="0" tIns="0" rIns="0" bIns="0" rtlCol="0" anchor="t"/>
          <a:lstStyle/>
          <a:p>
            <a:pPr marL="0" indent="0">
              <a:buNone/>
            </a:pPr>
            <a:r>
              <a:rPr lang="en-US" sz="1600" b="1" dirty="0">
                <a:solidFill>
                  <a:srgbClr val="16324F"/>
                </a:solidFill>
              </a:rPr>
              <a:t>Measure four bands</a:t>
            </a:r>
            <a:endParaRPr lang="en-US" sz="1600" dirty="0"/>
          </a:p>
          <a:p>
            <a:pPr marL="0" indent="0">
              <a:buNone/>
            </a:pPr>
            <a:r>
              <a:rPr lang="en-US" sz="1400" dirty="0">
                <a:solidFill>
                  <a:srgbClr val="1B1F24"/>
                </a:solidFill>
              </a:rPr>
              <a:t>Mean signal in windows at ~420, ~460, ~590 and ~700 nm.</a:t>
            </a:r>
            <a:endParaRPr lang="en-US" sz="1600" dirty="0"/>
          </a:p>
        </p:txBody>
      </p:sp>
      <p:sp>
        <p:nvSpPr>
          <p:cNvPr id="10" name="Shape 7"/>
          <p:cNvSpPr/>
          <p:nvPr/>
        </p:nvSpPr>
        <p:spPr>
          <a:xfrm>
            <a:off x="7498080" y="4572000"/>
            <a:ext cx="502920" cy="502920"/>
          </a:xfrm>
          <a:prstGeom prst="ellipse">
            <a:avLst/>
          </a:prstGeom>
          <a:solidFill>
            <a:schemeClr val="accent1"/>
          </a:solidFill>
          <a:ln w="12700">
            <a:solidFill>
              <a:schemeClr val="accent1"/>
            </a:solidFill>
            <a:prstDash val="solid"/>
          </a:ln>
        </p:spPr>
        <p:txBody>
          <a:bodyPr/>
          <a:lstStyle/>
          <a:p>
            <a:endParaRPr lang="en-IN"/>
          </a:p>
        </p:txBody>
      </p:sp>
      <p:sp>
        <p:nvSpPr>
          <p:cNvPr id="11" name="Text 8"/>
          <p:cNvSpPr txBox="1"/>
          <p:nvPr/>
        </p:nvSpPr>
        <p:spPr>
          <a:xfrm>
            <a:off x="7498080" y="4572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2" name="Text 9"/>
          <p:cNvSpPr txBox="1"/>
          <p:nvPr/>
        </p:nvSpPr>
        <p:spPr>
          <a:xfrm>
            <a:off x="8183880" y="4526280"/>
            <a:ext cx="3474720" cy="1417320"/>
          </a:xfrm>
          <a:prstGeom prst="rect">
            <a:avLst/>
          </a:prstGeom>
          <a:noFill/>
          <a:ln/>
        </p:spPr>
        <p:txBody>
          <a:bodyPr wrap="square" lIns="0" tIns="0" rIns="0" bIns="0" rtlCol="0" anchor="t"/>
          <a:lstStyle/>
          <a:p>
            <a:pPr marL="0" indent="0">
              <a:buNone/>
            </a:pPr>
            <a:r>
              <a:rPr lang="en-US" sz="1600" b="1" dirty="0">
                <a:solidFill>
                  <a:srgbClr val="16324F"/>
                </a:solidFill>
              </a:rPr>
              <a:t>Measure our own noise</a:t>
            </a:r>
            <a:endParaRPr lang="en-US" sz="1600" dirty="0"/>
          </a:p>
          <a:p>
            <a:pPr marL="0" indent="0">
              <a:buNone/>
            </a:pPr>
            <a:r>
              <a:rPr lang="en-US" sz="1400" dirty="0">
                <a:solidFill>
                  <a:srgbClr val="1B1F24"/>
                </a:solidFill>
              </a:rPr>
              <a:t>The 1:1:1 triplicates at each ratio give the noise at every wavelength.</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Copper drives solid formation</a:t>
            </a:r>
            <a:endParaRPr lang="en-US" sz="3000" dirty="0"/>
          </a:p>
        </p:txBody>
      </p:sp>
      <p:sp>
        <p:nvSpPr>
          <p:cNvPr id="3" name="Text 1"/>
          <p:cNvSpPr txBox="1"/>
          <p:nvPr/>
        </p:nvSpPr>
        <p:spPr>
          <a:xfrm>
            <a:off x="548640" y="1097280"/>
            <a:ext cx="11064240" cy="640080"/>
          </a:xfrm>
          <a:prstGeom prst="rect">
            <a:avLst/>
          </a:prstGeom>
          <a:noFill/>
          <a:ln/>
        </p:spPr>
        <p:txBody>
          <a:bodyPr wrap="square" lIns="0" tIns="0" rIns="0" bIns="0" rtlCol="0" anchor="t"/>
          <a:lstStyle/>
          <a:p>
            <a:pPr marL="0" indent="0">
              <a:buNone/>
            </a:pPr>
            <a:r>
              <a:rPr lang="en-US" sz="1400" b="1" dirty="0">
                <a:solidFill>
                  <a:srgbClr val="16324F"/>
                </a:solidFill>
              </a:rPr>
              <a:t>How to read it: </a:t>
            </a:r>
            <a:r>
              <a:rPr lang="en-US" sz="1400" dirty="0">
                <a:solidFill>
                  <a:srgbClr val="1B1F24"/>
                </a:solidFill>
              </a:rPr>
              <a:t>dissolved metal ions barely absorb at 860–900 nm, so absorbance there comes from light scattered by suspended solid. Darker dot = more solid product. Bottom edge Co–Ni, left edge Co–Cu, right edge Ni–Cu, ternaries inside.</a:t>
            </a:r>
            <a:endParaRPr lang="en-US" sz="1400" dirty="0"/>
          </a:p>
        </p:txBody>
      </p:sp>
      <p:pic>
        <p:nvPicPr>
          <p:cNvPr id="4" name="fig-scatter" descr="Composition triangles at four metal to ligand ratios coloured by scattering absorbance; Co-Ni edge is lightest"/>
          <p:cNvPicPr>
            <a:picLocks noChangeAspect="1"/>
          </p:cNvPicPr>
          <p:nvPr/>
        </p:nvPicPr>
        <p:blipFill>
          <a:blip r:embed="rId3"/>
          <a:stretch>
            <a:fillRect/>
          </a:stretch>
        </p:blipFill>
        <p:spPr>
          <a:xfrm>
            <a:off x="1224852" y="1783080"/>
            <a:ext cx="9711815" cy="2697480"/>
          </a:xfrm>
          <a:prstGeom prst="rect">
            <a:avLst/>
          </a:prstGeom>
        </p:spPr>
      </p:pic>
      <p:sp>
        <p:nvSpPr>
          <p:cNvPr id="5" name="solid-0"/>
          <p:cNvSpPr/>
          <p:nvPr/>
        </p:nvSpPr>
        <p:spPr>
          <a:xfrm>
            <a:off x="548640" y="4572000"/>
            <a:ext cx="2651760" cy="1645920"/>
          </a:xfrm>
          <a:prstGeom prst="roundRect">
            <a:avLst>
              <a:gd name="adj" fmla="val 5556"/>
            </a:avLst>
          </a:prstGeom>
          <a:solidFill>
            <a:schemeClr val="bg2"/>
          </a:solidFill>
          <a:ln w="12700">
            <a:solidFill>
              <a:schemeClr val="bg2"/>
            </a:solidFill>
            <a:prstDash val="solid"/>
          </a:ln>
        </p:spPr>
        <p:txBody>
          <a:bodyPr/>
          <a:lstStyle/>
          <a:p>
            <a:endParaRPr lang="en-IN"/>
          </a:p>
        </p:txBody>
      </p:sp>
      <p:sp>
        <p:nvSpPr>
          <p:cNvPr id="6" name="Shape 3"/>
          <p:cNvSpPr/>
          <p:nvPr/>
        </p:nvSpPr>
        <p:spPr>
          <a:xfrm>
            <a:off x="731520" y="4773168"/>
            <a:ext cx="201168" cy="201168"/>
          </a:xfrm>
          <a:prstGeom prst="ellipse">
            <a:avLst/>
          </a:prstGeom>
          <a:solidFill>
            <a:srgbClr val="2A78D6"/>
          </a:solidFill>
          <a:ln w="12700">
            <a:solidFill>
              <a:srgbClr val="2A78D6"/>
            </a:solidFill>
            <a:prstDash val="solid"/>
          </a:ln>
        </p:spPr>
        <p:txBody>
          <a:bodyPr/>
          <a:lstStyle/>
          <a:p>
            <a:endParaRPr lang="en-IN"/>
          </a:p>
        </p:txBody>
      </p:sp>
      <p:sp>
        <p:nvSpPr>
          <p:cNvPr id="7" name="Text 4"/>
          <p:cNvSpPr txBox="1"/>
          <p:nvPr/>
        </p:nvSpPr>
        <p:spPr>
          <a:xfrm>
            <a:off x="1005840" y="4681728"/>
            <a:ext cx="2103120" cy="365760"/>
          </a:xfrm>
          <a:prstGeom prst="rect">
            <a:avLst/>
          </a:prstGeom>
          <a:noFill/>
          <a:ln/>
        </p:spPr>
        <p:txBody>
          <a:bodyPr wrap="square" lIns="0" tIns="0" rIns="0" bIns="0" rtlCol="0" anchor="ctr"/>
          <a:lstStyle/>
          <a:p>
            <a:pPr marL="0" indent="0">
              <a:buNone/>
            </a:pPr>
            <a:r>
              <a:rPr lang="en-US" sz="1400" b="1" dirty="0">
                <a:solidFill>
                  <a:srgbClr val="16324F"/>
                </a:solidFill>
              </a:rPr>
              <a:t>Co–Ni wells</a:t>
            </a:r>
            <a:endParaRPr lang="en-US" sz="1400" dirty="0"/>
          </a:p>
        </p:txBody>
      </p:sp>
      <p:sp>
        <p:nvSpPr>
          <p:cNvPr id="8" name="Text 5"/>
          <p:cNvSpPr txBox="1"/>
          <p:nvPr/>
        </p:nvSpPr>
        <p:spPr>
          <a:xfrm>
            <a:off x="731520" y="5074920"/>
            <a:ext cx="2377440" cy="640080"/>
          </a:xfrm>
          <a:prstGeom prst="rect">
            <a:avLst/>
          </a:prstGeom>
          <a:noFill/>
          <a:ln/>
        </p:spPr>
        <p:txBody>
          <a:bodyPr wrap="square" lIns="0" tIns="0" rIns="0" bIns="0" rtlCol="0" anchor="ctr"/>
          <a:lstStyle/>
          <a:p>
            <a:pPr marL="0" indent="0">
              <a:buNone/>
            </a:pPr>
            <a:r>
              <a:rPr lang="en-US" sz="2800" b="1" dirty="0">
                <a:solidFill>
                  <a:srgbClr val="1B1F24"/>
                </a:solidFill>
                <a:latin typeface="Cambria" pitchFamily="34" charset="0"/>
                <a:ea typeface="Cambria" pitchFamily="34" charset="-122"/>
                <a:cs typeface="Cambria" pitchFamily="34" charset="-120"/>
              </a:rPr>
              <a:t>0.17–0.80</a:t>
            </a:r>
            <a:endParaRPr lang="en-US" sz="2800" dirty="0"/>
          </a:p>
        </p:txBody>
      </p:sp>
      <p:sp>
        <p:nvSpPr>
          <p:cNvPr id="9" name="Text 6"/>
          <p:cNvSpPr txBox="1"/>
          <p:nvPr/>
        </p:nvSpPr>
        <p:spPr>
          <a:xfrm>
            <a:off x="731520" y="5715000"/>
            <a:ext cx="2377440" cy="365760"/>
          </a:xfrm>
          <a:prstGeom prst="rect">
            <a:avLst/>
          </a:prstGeom>
          <a:noFill/>
          <a:ln/>
        </p:spPr>
        <p:txBody>
          <a:bodyPr wrap="square" lIns="0" tIns="0" rIns="0" bIns="0" rtlCol="0" anchor="ctr"/>
          <a:lstStyle/>
          <a:p>
            <a:pPr marL="0" indent="0">
              <a:buNone/>
            </a:pPr>
            <a:r>
              <a:rPr lang="en-US" sz="1200" dirty="0">
                <a:solidFill>
                  <a:srgbClr val="5F6670"/>
                </a:solidFill>
              </a:rPr>
              <a:t>least scattering at every ratio</a:t>
            </a:r>
            <a:endParaRPr lang="en-US" sz="1200" dirty="0"/>
          </a:p>
        </p:txBody>
      </p:sp>
      <p:sp>
        <p:nvSpPr>
          <p:cNvPr id="10" name="solid-1"/>
          <p:cNvSpPr/>
          <p:nvPr/>
        </p:nvSpPr>
        <p:spPr>
          <a:xfrm>
            <a:off x="3364992" y="4572000"/>
            <a:ext cx="2651760" cy="1645920"/>
          </a:xfrm>
          <a:prstGeom prst="roundRect">
            <a:avLst>
              <a:gd name="adj" fmla="val 5556"/>
            </a:avLst>
          </a:prstGeom>
          <a:solidFill>
            <a:schemeClr val="bg2"/>
          </a:solidFill>
          <a:ln w="12700">
            <a:solidFill>
              <a:schemeClr val="bg2"/>
            </a:solidFill>
            <a:prstDash val="solid"/>
          </a:ln>
        </p:spPr>
        <p:txBody>
          <a:bodyPr/>
          <a:lstStyle/>
          <a:p>
            <a:endParaRPr lang="en-IN"/>
          </a:p>
        </p:txBody>
      </p:sp>
      <p:sp>
        <p:nvSpPr>
          <p:cNvPr id="11" name="Shape 8"/>
          <p:cNvSpPr/>
          <p:nvPr/>
        </p:nvSpPr>
        <p:spPr>
          <a:xfrm>
            <a:off x="3547872" y="4773168"/>
            <a:ext cx="201168" cy="201168"/>
          </a:xfrm>
          <a:prstGeom prst="ellipse">
            <a:avLst/>
          </a:prstGeom>
          <a:solidFill>
            <a:srgbClr val="EB6834"/>
          </a:solidFill>
          <a:ln w="12700">
            <a:solidFill>
              <a:srgbClr val="EB6834"/>
            </a:solidFill>
            <a:prstDash val="solid"/>
          </a:ln>
        </p:spPr>
        <p:txBody>
          <a:bodyPr/>
          <a:lstStyle/>
          <a:p>
            <a:endParaRPr lang="en-IN"/>
          </a:p>
        </p:txBody>
      </p:sp>
      <p:sp>
        <p:nvSpPr>
          <p:cNvPr id="12" name="Text 9"/>
          <p:cNvSpPr txBox="1"/>
          <p:nvPr/>
        </p:nvSpPr>
        <p:spPr>
          <a:xfrm>
            <a:off x="3822192" y="4681728"/>
            <a:ext cx="2103120" cy="365760"/>
          </a:xfrm>
          <a:prstGeom prst="rect">
            <a:avLst/>
          </a:prstGeom>
          <a:noFill/>
          <a:ln/>
        </p:spPr>
        <p:txBody>
          <a:bodyPr wrap="square" lIns="0" tIns="0" rIns="0" bIns="0" rtlCol="0" anchor="ctr"/>
          <a:lstStyle/>
          <a:p>
            <a:pPr marL="0" indent="0">
              <a:buNone/>
            </a:pPr>
            <a:r>
              <a:rPr lang="en-US" sz="1400" b="1" dirty="0">
                <a:solidFill>
                  <a:srgbClr val="16324F"/>
                </a:solidFill>
              </a:rPr>
              <a:t>Co–Cu wells</a:t>
            </a:r>
            <a:endParaRPr lang="en-US" sz="1400" dirty="0"/>
          </a:p>
        </p:txBody>
      </p:sp>
      <p:sp>
        <p:nvSpPr>
          <p:cNvPr id="13" name="Text 10"/>
          <p:cNvSpPr txBox="1"/>
          <p:nvPr/>
        </p:nvSpPr>
        <p:spPr>
          <a:xfrm>
            <a:off x="3547872" y="5074920"/>
            <a:ext cx="2377440" cy="640080"/>
          </a:xfrm>
          <a:prstGeom prst="rect">
            <a:avLst/>
          </a:prstGeom>
          <a:noFill/>
          <a:ln/>
        </p:spPr>
        <p:txBody>
          <a:bodyPr wrap="square" lIns="0" tIns="0" rIns="0" bIns="0" rtlCol="0" anchor="ctr"/>
          <a:lstStyle/>
          <a:p>
            <a:pPr marL="0" indent="0">
              <a:buNone/>
            </a:pPr>
            <a:r>
              <a:rPr lang="en-US" sz="2800" b="1" dirty="0">
                <a:solidFill>
                  <a:srgbClr val="1B1F24"/>
                </a:solidFill>
                <a:latin typeface="Cambria" pitchFamily="34" charset="0"/>
                <a:ea typeface="Cambria" pitchFamily="34" charset="-122"/>
                <a:cs typeface="Cambria" pitchFamily="34" charset="-120"/>
              </a:rPr>
              <a:t>0.91–1.63</a:t>
            </a:r>
            <a:endParaRPr lang="en-US" sz="2800" dirty="0"/>
          </a:p>
        </p:txBody>
      </p:sp>
      <p:sp>
        <p:nvSpPr>
          <p:cNvPr id="14" name="Text 11"/>
          <p:cNvSpPr txBox="1"/>
          <p:nvPr/>
        </p:nvSpPr>
        <p:spPr>
          <a:xfrm>
            <a:off x="3547872" y="5715000"/>
            <a:ext cx="2377440" cy="365760"/>
          </a:xfrm>
          <a:prstGeom prst="rect">
            <a:avLst/>
          </a:prstGeom>
          <a:noFill/>
          <a:ln/>
        </p:spPr>
        <p:txBody>
          <a:bodyPr wrap="square" lIns="0" tIns="0" rIns="0" bIns="0" rtlCol="0" anchor="ctr"/>
          <a:lstStyle/>
          <a:p>
            <a:pPr marL="0" indent="0">
              <a:buNone/>
            </a:pPr>
            <a:r>
              <a:rPr lang="en-US" sz="1200" dirty="0">
                <a:solidFill>
                  <a:srgbClr val="5F6670"/>
                </a:solidFill>
              </a:rPr>
              <a:t>strong scattering</a:t>
            </a:r>
            <a:endParaRPr lang="en-US" sz="1200" dirty="0"/>
          </a:p>
        </p:txBody>
      </p:sp>
      <p:sp>
        <p:nvSpPr>
          <p:cNvPr id="15" name="solid-2"/>
          <p:cNvSpPr/>
          <p:nvPr/>
        </p:nvSpPr>
        <p:spPr>
          <a:xfrm>
            <a:off x="6181344" y="4572000"/>
            <a:ext cx="2651760" cy="1645920"/>
          </a:xfrm>
          <a:prstGeom prst="roundRect">
            <a:avLst>
              <a:gd name="adj" fmla="val 5556"/>
            </a:avLst>
          </a:prstGeom>
          <a:solidFill>
            <a:schemeClr val="bg2"/>
          </a:solidFill>
          <a:ln w="12700">
            <a:solidFill>
              <a:schemeClr val="bg2"/>
            </a:solidFill>
            <a:prstDash val="solid"/>
          </a:ln>
        </p:spPr>
        <p:txBody>
          <a:bodyPr/>
          <a:lstStyle/>
          <a:p>
            <a:endParaRPr lang="en-IN"/>
          </a:p>
        </p:txBody>
      </p:sp>
      <p:sp>
        <p:nvSpPr>
          <p:cNvPr id="16" name="Shape 13"/>
          <p:cNvSpPr/>
          <p:nvPr/>
        </p:nvSpPr>
        <p:spPr>
          <a:xfrm>
            <a:off x="6364224" y="4773168"/>
            <a:ext cx="201168" cy="201168"/>
          </a:xfrm>
          <a:prstGeom prst="ellipse">
            <a:avLst/>
          </a:prstGeom>
          <a:solidFill>
            <a:srgbClr val="1BAF7A"/>
          </a:solidFill>
          <a:ln w="12700">
            <a:solidFill>
              <a:srgbClr val="1BAF7A"/>
            </a:solidFill>
            <a:prstDash val="solid"/>
          </a:ln>
        </p:spPr>
        <p:txBody>
          <a:bodyPr/>
          <a:lstStyle/>
          <a:p>
            <a:endParaRPr lang="en-IN"/>
          </a:p>
        </p:txBody>
      </p:sp>
      <p:sp>
        <p:nvSpPr>
          <p:cNvPr id="17" name="Text 14"/>
          <p:cNvSpPr txBox="1"/>
          <p:nvPr/>
        </p:nvSpPr>
        <p:spPr>
          <a:xfrm>
            <a:off x="6638544" y="4681728"/>
            <a:ext cx="2103120" cy="365760"/>
          </a:xfrm>
          <a:prstGeom prst="rect">
            <a:avLst/>
          </a:prstGeom>
          <a:noFill/>
          <a:ln/>
        </p:spPr>
        <p:txBody>
          <a:bodyPr wrap="square" lIns="0" tIns="0" rIns="0" bIns="0" rtlCol="0" anchor="ctr"/>
          <a:lstStyle/>
          <a:p>
            <a:pPr marL="0" indent="0">
              <a:buNone/>
            </a:pPr>
            <a:r>
              <a:rPr lang="en-US" sz="1400" b="1" dirty="0">
                <a:solidFill>
                  <a:srgbClr val="16324F"/>
                </a:solidFill>
              </a:rPr>
              <a:t>Ni–Cu wells</a:t>
            </a:r>
            <a:endParaRPr lang="en-US" sz="1400" dirty="0"/>
          </a:p>
        </p:txBody>
      </p:sp>
      <p:sp>
        <p:nvSpPr>
          <p:cNvPr id="18" name="Text 15"/>
          <p:cNvSpPr txBox="1"/>
          <p:nvPr/>
        </p:nvSpPr>
        <p:spPr>
          <a:xfrm>
            <a:off x="6364224" y="5074920"/>
            <a:ext cx="2377440" cy="640080"/>
          </a:xfrm>
          <a:prstGeom prst="rect">
            <a:avLst/>
          </a:prstGeom>
          <a:noFill/>
          <a:ln/>
        </p:spPr>
        <p:txBody>
          <a:bodyPr wrap="square" lIns="0" tIns="0" rIns="0" bIns="0" rtlCol="0" anchor="ctr"/>
          <a:lstStyle/>
          <a:p>
            <a:pPr marL="0" indent="0">
              <a:buNone/>
            </a:pPr>
            <a:r>
              <a:rPr lang="en-US" sz="2800" b="1" dirty="0">
                <a:solidFill>
                  <a:srgbClr val="1B1F24"/>
                </a:solidFill>
                <a:latin typeface="Cambria" pitchFamily="34" charset="0"/>
                <a:ea typeface="Cambria" pitchFamily="34" charset="-122"/>
                <a:cs typeface="Cambria" pitchFamily="34" charset="-120"/>
              </a:rPr>
              <a:t>1.00–1.71</a:t>
            </a:r>
            <a:endParaRPr lang="en-US" sz="2800" dirty="0"/>
          </a:p>
        </p:txBody>
      </p:sp>
      <p:sp>
        <p:nvSpPr>
          <p:cNvPr id="19" name="Text 16"/>
          <p:cNvSpPr txBox="1"/>
          <p:nvPr/>
        </p:nvSpPr>
        <p:spPr>
          <a:xfrm>
            <a:off x="6364224" y="5715000"/>
            <a:ext cx="2377440" cy="365760"/>
          </a:xfrm>
          <a:prstGeom prst="rect">
            <a:avLst/>
          </a:prstGeom>
          <a:noFill/>
          <a:ln/>
        </p:spPr>
        <p:txBody>
          <a:bodyPr wrap="square" lIns="0" tIns="0" rIns="0" bIns="0" rtlCol="0" anchor="ctr"/>
          <a:lstStyle/>
          <a:p>
            <a:pPr marL="0" indent="0">
              <a:buNone/>
            </a:pPr>
            <a:r>
              <a:rPr lang="en-US" sz="1200" dirty="0">
                <a:solidFill>
                  <a:srgbClr val="5F6670"/>
                </a:solidFill>
              </a:rPr>
              <a:t>strong scattering</a:t>
            </a:r>
            <a:endParaRPr lang="en-US" sz="1200" dirty="0"/>
          </a:p>
        </p:txBody>
      </p:sp>
      <p:sp>
        <p:nvSpPr>
          <p:cNvPr id="20" name="solid-3"/>
          <p:cNvSpPr/>
          <p:nvPr/>
        </p:nvSpPr>
        <p:spPr>
          <a:xfrm>
            <a:off x="8997696" y="4572000"/>
            <a:ext cx="2651760" cy="1645920"/>
          </a:xfrm>
          <a:prstGeom prst="roundRect">
            <a:avLst>
              <a:gd name="adj" fmla="val 5556"/>
            </a:avLst>
          </a:prstGeom>
          <a:solidFill>
            <a:schemeClr val="bg2"/>
          </a:solidFill>
          <a:ln w="12700">
            <a:solidFill>
              <a:schemeClr val="bg2"/>
            </a:solidFill>
            <a:prstDash val="solid"/>
          </a:ln>
        </p:spPr>
        <p:txBody>
          <a:bodyPr/>
          <a:lstStyle/>
          <a:p>
            <a:endParaRPr lang="en-IN"/>
          </a:p>
        </p:txBody>
      </p:sp>
      <p:sp>
        <p:nvSpPr>
          <p:cNvPr id="21" name="Shape 18"/>
          <p:cNvSpPr/>
          <p:nvPr/>
        </p:nvSpPr>
        <p:spPr>
          <a:xfrm>
            <a:off x="9180576" y="4773168"/>
            <a:ext cx="201168" cy="201168"/>
          </a:xfrm>
          <a:prstGeom prst="ellipse">
            <a:avLst/>
          </a:prstGeom>
          <a:solidFill>
            <a:srgbClr val="B8693A"/>
          </a:solidFill>
          <a:ln w="12700">
            <a:solidFill>
              <a:srgbClr val="B8693A"/>
            </a:solidFill>
            <a:prstDash val="solid"/>
          </a:ln>
        </p:spPr>
        <p:txBody>
          <a:bodyPr/>
          <a:lstStyle/>
          <a:p>
            <a:endParaRPr lang="en-IN"/>
          </a:p>
        </p:txBody>
      </p:sp>
      <p:sp>
        <p:nvSpPr>
          <p:cNvPr id="22" name="Text 19"/>
          <p:cNvSpPr txBox="1"/>
          <p:nvPr/>
        </p:nvSpPr>
        <p:spPr>
          <a:xfrm>
            <a:off x="9454896" y="4681728"/>
            <a:ext cx="2103120" cy="365760"/>
          </a:xfrm>
          <a:prstGeom prst="rect">
            <a:avLst/>
          </a:prstGeom>
          <a:noFill/>
          <a:ln/>
        </p:spPr>
        <p:txBody>
          <a:bodyPr wrap="square" lIns="0" tIns="0" rIns="0" bIns="0" rtlCol="0" anchor="ctr"/>
          <a:lstStyle/>
          <a:p>
            <a:pPr marL="0" indent="0">
              <a:buNone/>
            </a:pPr>
            <a:r>
              <a:rPr lang="en-US" sz="1400" b="1" dirty="0">
                <a:solidFill>
                  <a:srgbClr val="16324F"/>
                </a:solidFill>
              </a:rPr>
              <a:t>more BDC</a:t>
            </a:r>
            <a:endParaRPr lang="en-US" sz="1400" dirty="0"/>
          </a:p>
        </p:txBody>
      </p:sp>
      <p:sp>
        <p:nvSpPr>
          <p:cNvPr id="23" name="Text 20"/>
          <p:cNvSpPr txBox="1"/>
          <p:nvPr/>
        </p:nvSpPr>
        <p:spPr>
          <a:xfrm>
            <a:off x="9180576" y="5074920"/>
            <a:ext cx="2377440" cy="640080"/>
          </a:xfrm>
          <a:prstGeom prst="rect">
            <a:avLst/>
          </a:prstGeom>
          <a:noFill/>
          <a:ln/>
        </p:spPr>
        <p:txBody>
          <a:bodyPr wrap="square" lIns="0" tIns="0" rIns="0" bIns="0" rtlCol="0" anchor="ctr"/>
          <a:lstStyle/>
          <a:p>
            <a:pPr marL="0" indent="0">
              <a:buNone/>
            </a:pPr>
            <a:r>
              <a:rPr lang="en-US" sz="2800" b="1" dirty="0">
                <a:solidFill>
                  <a:srgbClr val="1B1F24"/>
                </a:solidFill>
                <a:latin typeface="Cambria" pitchFamily="34" charset="0"/>
                <a:ea typeface="Cambria" pitchFamily="34" charset="-122"/>
                <a:cs typeface="Cambria" pitchFamily="34" charset="-120"/>
              </a:rPr>
              <a:t>1:3, 1:4</a:t>
            </a:r>
            <a:endParaRPr lang="en-US" sz="2800" dirty="0"/>
          </a:p>
        </p:txBody>
      </p:sp>
      <p:sp>
        <p:nvSpPr>
          <p:cNvPr id="24" name="Text 21"/>
          <p:cNvSpPr txBox="1"/>
          <p:nvPr/>
        </p:nvSpPr>
        <p:spPr>
          <a:xfrm>
            <a:off x="9180576" y="5715000"/>
            <a:ext cx="2377440" cy="365760"/>
          </a:xfrm>
          <a:prstGeom prst="rect">
            <a:avLst/>
          </a:prstGeom>
          <a:noFill/>
          <a:ln/>
        </p:spPr>
        <p:txBody>
          <a:bodyPr wrap="square" lIns="0" tIns="0" rIns="0" bIns="0" rtlCol="0" anchor="ctr"/>
          <a:lstStyle/>
          <a:p>
            <a:pPr marL="0" indent="0">
              <a:buNone/>
            </a:pPr>
            <a:r>
              <a:rPr lang="en-US" sz="1200" dirty="0">
                <a:solidFill>
                  <a:srgbClr val="5F6670"/>
                </a:solidFill>
              </a:rPr>
              <a:t>more solid in every family</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Two bands appear only when copper meets a specific partner</a:t>
            </a:r>
            <a:endParaRPr lang="en-US" sz="3000" dirty="0"/>
          </a:p>
        </p:txBody>
      </p:sp>
      <p:pic>
        <p:nvPicPr>
          <p:cNvPr id="3" name="fig-pairs" descr="Band strength by metal pair for the 420, 590 and 700 nm bands"/>
          <p:cNvPicPr>
            <a:picLocks noChangeAspect="1"/>
          </p:cNvPicPr>
          <p:nvPr/>
        </p:nvPicPr>
        <p:blipFill>
          <a:blip r:embed="rId3"/>
          <a:stretch>
            <a:fillRect/>
          </a:stretch>
        </p:blipFill>
        <p:spPr>
          <a:xfrm>
            <a:off x="497974" y="1188720"/>
            <a:ext cx="11165571" cy="3611880"/>
          </a:xfrm>
          <a:prstGeom prst="rect">
            <a:avLst/>
          </a:prstGeom>
        </p:spPr>
      </p:pic>
      <p:sp>
        <p:nvSpPr>
          <p:cNvPr id="4" name="band-0"/>
          <p:cNvSpPr/>
          <p:nvPr/>
        </p:nvSpPr>
        <p:spPr>
          <a:xfrm>
            <a:off x="548640" y="4937760"/>
            <a:ext cx="3566160" cy="1325880"/>
          </a:xfrm>
          <a:prstGeom prst="roundRect">
            <a:avLst>
              <a:gd name="adj" fmla="val 6897"/>
            </a:avLst>
          </a:prstGeom>
          <a:solidFill>
            <a:schemeClr val="bg2"/>
          </a:solidFill>
          <a:ln w="12700">
            <a:solidFill>
              <a:schemeClr val="bg2"/>
            </a:solidFill>
            <a:prstDash val="solid"/>
          </a:ln>
        </p:spPr>
        <p:txBody>
          <a:bodyPr/>
          <a:lstStyle/>
          <a:p>
            <a:endParaRPr lang="en-IN"/>
          </a:p>
        </p:txBody>
      </p:sp>
      <p:sp>
        <p:nvSpPr>
          <p:cNvPr id="5" name="Shape 2"/>
          <p:cNvSpPr/>
          <p:nvPr/>
        </p:nvSpPr>
        <p:spPr>
          <a:xfrm>
            <a:off x="731520" y="5120640"/>
            <a:ext cx="201168" cy="201168"/>
          </a:xfrm>
          <a:prstGeom prst="ellipse">
            <a:avLst/>
          </a:prstGeom>
          <a:solidFill>
            <a:srgbClr val="1BAF7A"/>
          </a:solidFill>
          <a:ln w="12700">
            <a:solidFill>
              <a:srgbClr val="1BAF7A"/>
            </a:solidFill>
            <a:prstDash val="solid"/>
          </a:ln>
        </p:spPr>
        <p:txBody>
          <a:bodyPr/>
          <a:lstStyle/>
          <a:p>
            <a:endParaRPr lang="en-IN"/>
          </a:p>
        </p:txBody>
      </p:sp>
      <p:sp>
        <p:nvSpPr>
          <p:cNvPr id="6" name="Text 3"/>
          <p:cNvSpPr txBox="1"/>
          <p:nvPr/>
        </p:nvSpPr>
        <p:spPr>
          <a:xfrm>
            <a:off x="1005840" y="5010912"/>
            <a:ext cx="3017520" cy="411480"/>
          </a:xfrm>
          <a:prstGeom prst="rect">
            <a:avLst/>
          </a:prstGeom>
          <a:noFill/>
          <a:ln/>
        </p:spPr>
        <p:txBody>
          <a:bodyPr wrap="square" lIns="0" tIns="0" rIns="0" bIns="0" rtlCol="0" anchor="ctr"/>
          <a:lstStyle/>
          <a:p>
            <a:pPr marL="0" indent="0">
              <a:buNone/>
            </a:pPr>
            <a:r>
              <a:rPr lang="en-US" sz="1500" b="1" dirty="0">
                <a:solidFill>
                  <a:srgbClr val="16324F"/>
                </a:solidFill>
              </a:rPr>
              <a:t>~420 nm needs Ni + Cu</a:t>
            </a:r>
            <a:endParaRPr lang="en-US" sz="1500" dirty="0"/>
          </a:p>
        </p:txBody>
      </p:sp>
      <p:sp>
        <p:nvSpPr>
          <p:cNvPr id="7" name="Text 4"/>
          <p:cNvSpPr txBox="1"/>
          <p:nvPr/>
        </p:nvSpPr>
        <p:spPr>
          <a:xfrm>
            <a:off x="731520" y="5440680"/>
            <a:ext cx="3246120" cy="777240"/>
          </a:xfrm>
          <a:prstGeom prst="rect">
            <a:avLst/>
          </a:prstGeom>
          <a:noFill/>
          <a:ln/>
        </p:spPr>
        <p:txBody>
          <a:bodyPr wrap="square" lIns="0" tIns="0" rIns="0" bIns="0" rtlCol="0" anchor="t"/>
          <a:lstStyle/>
          <a:p>
            <a:pPr marL="0" indent="0">
              <a:buNone/>
            </a:pPr>
            <a:r>
              <a:rPr lang="en-US" sz="1200" dirty="0">
                <a:solidFill>
                  <a:srgbClr val="1B1F24"/>
                </a:solidFill>
              </a:rPr>
              <a:t>Strongest at Ni:Cu 1:1, 2:1 and 1:2 with little BDC; absent from Co–Ni and Co–Cu.</a:t>
            </a:r>
            <a:endParaRPr lang="en-US" sz="1200" dirty="0"/>
          </a:p>
        </p:txBody>
      </p:sp>
      <p:sp>
        <p:nvSpPr>
          <p:cNvPr id="8" name="band-1"/>
          <p:cNvSpPr/>
          <p:nvPr/>
        </p:nvSpPr>
        <p:spPr>
          <a:xfrm>
            <a:off x="4297680" y="4937760"/>
            <a:ext cx="3566160" cy="1325880"/>
          </a:xfrm>
          <a:prstGeom prst="roundRect">
            <a:avLst>
              <a:gd name="adj" fmla="val 6897"/>
            </a:avLst>
          </a:prstGeom>
          <a:solidFill>
            <a:schemeClr val="bg2"/>
          </a:solidFill>
          <a:ln w="12700">
            <a:solidFill>
              <a:schemeClr val="bg2"/>
            </a:solidFill>
            <a:prstDash val="solid"/>
          </a:ln>
        </p:spPr>
        <p:txBody>
          <a:bodyPr/>
          <a:lstStyle/>
          <a:p>
            <a:endParaRPr lang="en-IN"/>
          </a:p>
        </p:txBody>
      </p:sp>
      <p:sp>
        <p:nvSpPr>
          <p:cNvPr id="9" name="Shape 6"/>
          <p:cNvSpPr/>
          <p:nvPr/>
        </p:nvSpPr>
        <p:spPr>
          <a:xfrm>
            <a:off x="4480560" y="5120640"/>
            <a:ext cx="201168" cy="201168"/>
          </a:xfrm>
          <a:prstGeom prst="ellipse">
            <a:avLst/>
          </a:prstGeom>
          <a:solidFill>
            <a:srgbClr val="EB6834"/>
          </a:solidFill>
          <a:ln w="12700">
            <a:solidFill>
              <a:srgbClr val="EB6834"/>
            </a:solidFill>
            <a:prstDash val="solid"/>
          </a:ln>
        </p:spPr>
        <p:txBody>
          <a:bodyPr/>
          <a:lstStyle/>
          <a:p>
            <a:endParaRPr lang="en-IN"/>
          </a:p>
        </p:txBody>
      </p:sp>
      <p:sp>
        <p:nvSpPr>
          <p:cNvPr id="10" name="Text 7"/>
          <p:cNvSpPr txBox="1"/>
          <p:nvPr/>
        </p:nvSpPr>
        <p:spPr>
          <a:xfrm>
            <a:off x="4754880" y="5010912"/>
            <a:ext cx="3017520" cy="411480"/>
          </a:xfrm>
          <a:prstGeom prst="rect">
            <a:avLst/>
          </a:prstGeom>
          <a:noFill/>
          <a:ln/>
        </p:spPr>
        <p:txBody>
          <a:bodyPr wrap="square" lIns="0" tIns="0" rIns="0" bIns="0" rtlCol="0" anchor="ctr"/>
          <a:lstStyle/>
          <a:p>
            <a:pPr marL="0" indent="0">
              <a:buNone/>
            </a:pPr>
            <a:r>
              <a:rPr lang="en-US" sz="1500" b="1" dirty="0">
                <a:solidFill>
                  <a:srgbClr val="16324F"/>
                </a:solidFill>
              </a:rPr>
              <a:t>~590 nm needs Co + Cu</a:t>
            </a:r>
            <a:endParaRPr lang="en-US" sz="1500" dirty="0"/>
          </a:p>
        </p:txBody>
      </p:sp>
      <p:sp>
        <p:nvSpPr>
          <p:cNvPr id="11" name="Text 8"/>
          <p:cNvSpPr txBox="1"/>
          <p:nvPr/>
        </p:nvSpPr>
        <p:spPr>
          <a:xfrm>
            <a:off x="4480560" y="5440680"/>
            <a:ext cx="3246120" cy="777240"/>
          </a:xfrm>
          <a:prstGeom prst="rect">
            <a:avLst/>
          </a:prstGeom>
          <a:noFill/>
          <a:ln/>
        </p:spPr>
        <p:txBody>
          <a:bodyPr wrap="square" lIns="0" tIns="0" rIns="0" bIns="0" rtlCol="0" anchor="t"/>
          <a:lstStyle/>
          <a:p>
            <a:pPr marL="0" indent="0">
              <a:buNone/>
            </a:pPr>
            <a:r>
              <a:rPr lang="en-US" sz="1200" dirty="0">
                <a:solidFill>
                  <a:srgbClr val="1B1F24"/>
                </a:solidFill>
              </a:rPr>
              <a:t>Strongest at Co:Cu 1:1 and 2:1; absent from Co–Ni mixes with the same Co content.</a:t>
            </a:r>
            <a:endParaRPr lang="en-US" sz="1200" dirty="0"/>
          </a:p>
        </p:txBody>
      </p:sp>
      <p:sp>
        <p:nvSpPr>
          <p:cNvPr id="12" name="band-2"/>
          <p:cNvSpPr/>
          <p:nvPr/>
        </p:nvSpPr>
        <p:spPr>
          <a:xfrm>
            <a:off x="8046720" y="4937760"/>
            <a:ext cx="3566160" cy="1325880"/>
          </a:xfrm>
          <a:prstGeom prst="roundRect">
            <a:avLst>
              <a:gd name="adj" fmla="val 6897"/>
            </a:avLst>
          </a:prstGeom>
          <a:solidFill>
            <a:schemeClr val="bg2"/>
          </a:solidFill>
          <a:ln w="12700">
            <a:solidFill>
              <a:schemeClr val="bg2"/>
            </a:solidFill>
            <a:prstDash val="solid"/>
          </a:ln>
        </p:spPr>
        <p:txBody>
          <a:bodyPr/>
          <a:lstStyle/>
          <a:p>
            <a:endParaRPr lang="en-IN"/>
          </a:p>
        </p:txBody>
      </p:sp>
      <p:sp>
        <p:nvSpPr>
          <p:cNvPr id="13" name="Shape 10"/>
          <p:cNvSpPr/>
          <p:nvPr/>
        </p:nvSpPr>
        <p:spPr>
          <a:xfrm>
            <a:off x="8229600" y="5120640"/>
            <a:ext cx="201168" cy="201168"/>
          </a:xfrm>
          <a:prstGeom prst="ellipse">
            <a:avLst/>
          </a:prstGeom>
          <a:solidFill>
            <a:srgbClr val="B8693A"/>
          </a:solidFill>
          <a:ln w="12700">
            <a:solidFill>
              <a:srgbClr val="B8693A"/>
            </a:solidFill>
            <a:prstDash val="solid"/>
          </a:ln>
        </p:spPr>
        <p:txBody>
          <a:bodyPr/>
          <a:lstStyle/>
          <a:p>
            <a:endParaRPr lang="en-IN"/>
          </a:p>
        </p:txBody>
      </p:sp>
      <p:sp>
        <p:nvSpPr>
          <p:cNvPr id="14" name="Text 11"/>
          <p:cNvSpPr txBox="1"/>
          <p:nvPr/>
        </p:nvSpPr>
        <p:spPr>
          <a:xfrm>
            <a:off x="8503920" y="5010912"/>
            <a:ext cx="3017520" cy="411480"/>
          </a:xfrm>
          <a:prstGeom prst="rect">
            <a:avLst/>
          </a:prstGeom>
          <a:noFill/>
          <a:ln/>
        </p:spPr>
        <p:txBody>
          <a:bodyPr wrap="square" lIns="0" tIns="0" rIns="0" bIns="0" rtlCol="0" anchor="ctr"/>
          <a:lstStyle/>
          <a:p>
            <a:pPr marL="0" indent="0">
              <a:buNone/>
            </a:pPr>
            <a:r>
              <a:rPr lang="en-US" sz="1500" b="1" dirty="0">
                <a:solidFill>
                  <a:srgbClr val="16324F"/>
                </a:solidFill>
              </a:rPr>
              <a:t>~700 nm: Cu(II) d–d</a:t>
            </a:r>
            <a:endParaRPr lang="en-US" sz="1500" dirty="0"/>
          </a:p>
        </p:txBody>
      </p:sp>
      <p:sp>
        <p:nvSpPr>
          <p:cNvPr id="15" name="Text 12"/>
          <p:cNvSpPr txBox="1"/>
          <p:nvPr/>
        </p:nvSpPr>
        <p:spPr>
          <a:xfrm>
            <a:off x="8229600" y="5440680"/>
            <a:ext cx="3246120" cy="777240"/>
          </a:xfrm>
          <a:prstGeom prst="rect">
            <a:avLst/>
          </a:prstGeom>
          <a:noFill/>
          <a:ln/>
        </p:spPr>
        <p:txBody>
          <a:bodyPr wrap="square" lIns="0" tIns="0" rIns="0" bIns="0" rtlCol="0" anchor="t"/>
          <a:lstStyle/>
          <a:p>
            <a:pPr marL="0" indent="0">
              <a:buNone/>
            </a:pPr>
            <a:r>
              <a:rPr lang="en-US" sz="1200" dirty="0">
                <a:solidFill>
                  <a:srgbClr val="1B1F24"/>
                </a:solidFill>
              </a:rPr>
              <a:t>In every Cu-containing mix (685–750 nm); zero without Cu.</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No ternary well shows a feature the binaries cannot explain</a:t>
            </a:r>
            <a:endParaRPr lang="en-US" sz="3000" dirty="0"/>
          </a:p>
        </p:txBody>
      </p:sp>
      <p:pic>
        <p:nvPicPr>
          <p:cNvPr id="3" name="fig-span" descr="Peak-to-noise of residuals after rebuilding spectra from binaries; ternary wells all below the binary null threshold"/>
          <p:cNvPicPr>
            <a:picLocks noChangeAspect="1"/>
          </p:cNvPicPr>
          <p:nvPr/>
        </p:nvPicPr>
        <p:blipFill>
          <a:blip r:embed="rId3"/>
          <a:stretch>
            <a:fillRect/>
          </a:stretch>
        </p:blipFill>
        <p:spPr>
          <a:xfrm>
            <a:off x="457200" y="1280160"/>
            <a:ext cx="7863840" cy="3420273"/>
          </a:xfrm>
          <a:prstGeom prst="rect">
            <a:avLst/>
          </a:prstGeom>
        </p:spPr>
      </p:pic>
      <p:sp>
        <p:nvSpPr>
          <p:cNvPr id="4" name="Text 1"/>
          <p:cNvSpPr txBox="1"/>
          <p:nvPr/>
        </p:nvSpPr>
        <p:spPr>
          <a:xfrm>
            <a:off x="8595360" y="1371600"/>
            <a:ext cx="3017520" cy="1371600"/>
          </a:xfrm>
          <a:prstGeom prst="rect">
            <a:avLst/>
          </a:prstGeom>
          <a:noFill/>
          <a:ln/>
        </p:spPr>
        <p:txBody>
          <a:bodyPr wrap="square" lIns="0" tIns="0" rIns="0" bIns="0" rtlCol="0" anchor="t"/>
          <a:lstStyle/>
          <a:p>
            <a:pPr marL="0" indent="0">
              <a:buNone/>
            </a:pPr>
            <a:r>
              <a:rPr lang="en-US" sz="4400" b="1" dirty="0">
                <a:solidFill>
                  <a:srgbClr val="B8693A"/>
                </a:solidFill>
                <a:latin typeface="Cambria" pitchFamily="34" charset="0"/>
                <a:ea typeface="Cambria" pitchFamily="34" charset="-122"/>
                <a:cs typeface="Cambria" pitchFamily="34" charset="-120"/>
              </a:rPr>
              <a:t>0 / 60</a:t>
            </a:r>
            <a:endParaRPr lang="en-US" sz="4400" dirty="0"/>
          </a:p>
          <a:p>
            <a:pPr marL="0" indent="0">
              <a:buNone/>
            </a:pPr>
            <a:r>
              <a:rPr lang="en-US" sz="1400" dirty="0">
                <a:solidFill>
                  <a:srgbClr val="5F6670"/>
                </a:solidFill>
              </a:rPr>
              <a:t>ternary wells beyond the binary null</a:t>
            </a:r>
            <a:endParaRPr lang="en-US" sz="4400" dirty="0"/>
          </a:p>
        </p:txBody>
      </p:sp>
      <p:sp>
        <p:nvSpPr>
          <p:cNvPr id="5" name="Text 2"/>
          <p:cNvSpPr txBox="1"/>
          <p:nvPr/>
        </p:nvSpPr>
        <p:spPr>
          <a:xfrm>
            <a:off x="8595360" y="28803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F24"/>
                </a:solidFill>
              </a:rPr>
              <a:t>PNR (peak-to-noise ratio) = biggest leftover signal ÷ our replicate noise. 35 / 60 ternaries pass PNR &gt; 3, but so do 21 / 36 binaries: the threshold alone is not enough.</a:t>
            </a:r>
            <a:endParaRPr lang="en-US" sz="1400" dirty="0"/>
          </a:p>
          <a:p>
            <a:pPr marL="342900" indent="-342900">
              <a:spcAft>
                <a:spcPts val="800"/>
              </a:spcAft>
              <a:buSzPct val="100000"/>
              <a:buChar char="•"/>
            </a:pPr>
            <a:r>
              <a:rPr lang="en-US" sz="1400" dirty="0">
                <a:solidFill>
                  <a:srgbClr val="1B1F24"/>
                </a:solidFill>
              </a:rPr>
              <a:t>Largest ternary residual 8.4, against 25.1 for the binary null.</a:t>
            </a:r>
            <a:endParaRPr lang="en-US" sz="1400" dirty="0"/>
          </a:p>
        </p:txBody>
      </p:sp>
      <p:sp>
        <p:nvSpPr>
          <p:cNvPr id="6" name="method-note"/>
          <p:cNvSpPr/>
          <p:nvPr/>
        </p:nvSpPr>
        <p:spPr>
          <a:xfrm>
            <a:off x="548640" y="5074920"/>
            <a:ext cx="11064240" cy="1143000"/>
          </a:xfrm>
          <a:prstGeom prst="roundRect">
            <a:avLst>
              <a:gd name="adj" fmla="val 8000"/>
            </a:avLst>
          </a:prstGeom>
          <a:solidFill>
            <a:schemeClr val="bg2"/>
          </a:solidFill>
          <a:ln w="12700">
            <a:solidFill>
              <a:schemeClr val="bg2"/>
            </a:solidFill>
            <a:prstDash val="solid"/>
          </a:ln>
        </p:spPr>
        <p:txBody>
          <a:bodyPr/>
          <a:lstStyle/>
          <a:p>
            <a:endParaRPr lang="en-IN"/>
          </a:p>
        </p:txBody>
      </p:sp>
      <p:sp>
        <p:nvSpPr>
          <p:cNvPr id="7" name="Text 4"/>
          <p:cNvSpPr txBox="1"/>
          <p:nvPr/>
        </p:nvSpPr>
        <p:spPr>
          <a:xfrm>
            <a:off x="731520" y="5120640"/>
            <a:ext cx="10698480" cy="1051560"/>
          </a:xfrm>
          <a:prstGeom prst="rect">
            <a:avLst/>
          </a:prstGeom>
          <a:noFill/>
          <a:ln/>
        </p:spPr>
        <p:txBody>
          <a:bodyPr wrap="square" rtlCol="0" anchor="ctr"/>
          <a:lstStyle/>
          <a:p>
            <a:pPr marL="0" indent="0">
              <a:buNone/>
            </a:pPr>
            <a:r>
              <a:rPr lang="en-US" sz="1400" b="1" dirty="0">
                <a:solidFill>
                  <a:srgbClr val="16324F"/>
                </a:solidFill>
              </a:rPr>
              <a:t>How we tested it: </a:t>
            </a:r>
            <a:r>
              <a:rPr lang="en-US" sz="1400" dirty="0">
                <a:solidFill>
                  <a:srgbClr val="1B1F24"/>
                </a:solidFill>
              </a:rPr>
              <a:t>each ternary spectrum is rebuilt from the best non-negative mix of the nine binary spectra at the same ratio. Whatever is left is a three-metal feature. As a null, each binary is rebuilt from the other eight.</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lgn="l">
              <a:buNone/>
            </a:pPr>
            <a:r>
              <a:rPr lang="en-US" sz="3000" b="1" dirty="0">
                <a:solidFill>
                  <a:schemeClr val="tx2"/>
                </a:solidFill>
              </a:rPr>
              <a:t>Scorecard against our success criteria</a:t>
            </a:r>
            <a:endParaRPr lang="en-US" sz="3000" dirty="0"/>
          </a:p>
        </p:txBody>
      </p:sp>
      <p:sp>
        <p:nvSpPr>
          <p:cNvPr id="3" name="crit-0"/>
          <p:cNvSpPr/>
          <p:nvPr/>
        </p:nvSpPr>
        <p:spPr>
          <a:xfrm>
            <a:off x="548640" y="1371600"/>
            <a:ext cx="11064240" cy="1024128"/>
          </a:xfrm>
          <a:prstGeom prst="roundRect">
            <a:avLst>
              <a:gd name="adj" fmla="val 7143"/>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777240" y="1371600"/>
            <a:ext cx="4206240" cy="1024128"/>
          </a:xfrm>
          <a:prstGeom prst="rect">
            <a:avLst/>
          </a:prstGeom>
          <a:noFill/>
          <a:ln/>
        </p:spPr>
        <p:txBody>
          <a:bodyPr wrap="square" lIns="0" tIns="0" rIns="0" bIns="0" rtlCol="0" anchor="ctr"/>
          <a:lstStyle/>
          <a:p>
            <a:pPr marL="0" indent="0">
              <a:buNone/>
            </a:pPr>
            <a:r>
              <a:rPr lang="en-US" sz="1500" b="1" dirty="0">
                <a:solidFill>
                  <a:srgbClr val="16324F"/>
                </a:solidFill>
              </a:rPr>
              <a:t>1. UV–Vis spectra for all 96 wells</a:t>
            </a:r>
            <a:endParaRPr lang="en-US" sz="1500" dirty="0"/>
          </a:p>
        </p:txBody>
      </p:sp>
      <p:sp>
        <p:nvSpPr>
          <p:cNvPr id="5" name="chip-Met"/>
          <p:cNvSpPr/>
          <p:nvPr/>
        </p:nvSpPr>
        <p:spPr>
          <a:xfrm>
            <a:off x="5120640" y="1728216"/>
            <a:ext cx="141732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5193792" y="1792224"/>
            <a:ext cx="182880" cy="182880"/>
          </a:xfrm>
          <a:prstGeom prst="rect">
            <a:avLst/>
          </a:prstGeom>
        </p:spPr>
      </p:pic>
      <p:sp>
        <p:nvSpPr>
          <p:cNvPr id="7" name="Text 4"/>
          <p:cNvSpPr txBox="1"/>
          <p:nvPr/>
        </p:nvSpPr>
        <p:spPr>
          <a:xfrm>
            <a:off x="5413248" y="1728216"/>
            <a:ext cx="1088136" cy="310896"/>
          </a:xfrm>
          <a:prstGeom prst="rect">
            <a:avLst/>
          </a:prstGeom>
          <a:noFill/>
          <a:ln/>
        </p:spPr>
        <p:txBody>
          <a:bodyPr wrap="square" lIns="0" tIns="0" rIns="0" bIns="0" rtlCol="0" anchor="ctr"/>
          <a:lstStyle/>
          <a:p>
            <a:pPr marL="0" indent="0">
              <a:buNone/>
            </a:pPr>
            <a:r>
              <a:rPr lang="en-US" sz="1100" b="1" dirty="0">
                <a:solidFill>
                  <a:srgbClr val="FFFFFF"/>
                </a:solidFill>
              </a:rPr>
              <a:t>Met</a:t>
            </a:r>
            <a:endParaRPr lang="en-US" sz="1100" dirty="0"/>
          </a:p>
        </p:txBody>
      </p:sp>
      <p:sp>
        <p:nvSpPr>
          <p:cNvPr id="8" name="Text 5"/>
          <p:cNvSpPr txBox="1"/>
          <p:nvPr/>
        </p:nvSpPr>
        <p:spPr>
          <a:xfrm>
            <a:off x="6766560" y="1371600"/>
            <a:ext cx="4663440" cy="1024128"/>
          </a:xfrm>
          <a:prstGeom prst="rect">
            <a:avLst/>
          </a:prstGeom>
          <a:noFill/>
          <a:ln/>
        </p:spPr>
        <p:txBody>
          <a:bodyPr wrap="square" lIns="0" tIns="0" rIns="0" bIns="0" rtlCol="0" anchor="ctr"/>
          <a:lstStyle/>
          <a:p>
            <a:pPr marL="0" indent="0">
              <a:buNone/>
            </a:pPr>
            <a:r>
              <a:rPr lang="en-US" sz="1300" dirty="0">
                <a:solidFill>
                  <a:srgbClr val="1B1F24"/>
                </a:solidFill>
              </a:rPr>
              <a:t>96 / 96 spectra, 400–900 nm</a:t>
            </a:r>
            <a:endParaRPr lang="en-US" sz="1300" dirty="0"/>
          </a:p>
        </p:txBody>
      </p:sp>
      <p:sp>
        <p:nvSpPr>
          <p:cNvPr id="9" name="crit-1"/>
          <p:cNvSpPr/>
          <p:nvPr/>
        </p:nvSpPr>
        <p:spPr>
          <a:xfrm>
            <a:off x="548640" y="2560320"/>
            <a:ext cx="11064240" cy="1024128"/>
          </a:xfrm>
          <a:prstGeom prst="roundRect">
            <a:avLst>
              <a:gd name="adj" fmla="val 7143"/>
            </a:avLst>
          </a:prstGeom>
          <a:solidFill>
            <a:schemeClr val="bg2"/>
          </a:solidFill>
          <a:ln w="12700">
            <a:solidFill>
              <a:schemeClr val="bg2"/>
            </a:solidFill>
            <a:prstDash val="solid"/>
          </a:ln>
        </p:spPr>
        <p:txBody>
          <a:bodyPr/>
          <a:lstStyle/>
          <a:p>
            <a:endParaRPr lang="en-IN"/>
          </a:p>
        </p:txBody>
      </p:sp>
      <p:sp>
        <p:nvSpPr>
          <p:cNvPr id="10" name="Text 7"/>
          <p:cNvSpPr txBox="1"/>
          <p:nvPr/>
        </p:nvSpPr>
        <p:spPr>
          <a:xfrm>
            <a:off x="777240" y="2560320"/>
            <a:ext cx="4206240" cy="1024128"/>
          </a:xfrm>
          <a:prstGeom prst="rect">
            <a:avLst/>
          </a:prstGeom>
          <a:noFill/>
          <a:ln/>
        </p:spPr>
        <p:txBody>
          <a:bodyPr wrap="square" lIns="0" tIns="0" rIns="0" bIns="0" rtlCol="0" anchor="ctr"/>
          <a:lstStyle/>
          <a:p>
            <a:pPr marL="0" indent="0">
              <a:buNone/>
            </a:pPr>
            <a:r>
              <a:rPr lang="en-US" sz="1500" b="1" dirty="0">
                <a:solidFill>
                  <a:srgbClr val="16324F"/>
                </a:solidFill>
              </a:rPr>
              <a:t>2. A new band versus simpler mixes, PNR &gt; 3</a:t>
            </a:r>
            <a:endParaRPr lang="en-US" sz="1500" dirty="0"/>
          </a:p>
        </p:txBody>
      </p:sp>
      <p:sp>
        <p:nvSpPr>
          <p:cNvPr id="11" name="chip-Partly met"/>
          <p:cNvSpPr/>
          <p:nvPr/>
        </p:nvSpPr>
        <p:spPr>
          <a:xfrm>
            <a:off x="5120640" y="2916936"/>
            <a:ext cx="1417320" cy="310896"/>
          </a:xfrm>
          <a:prstGeom prst="roundRect">
            <a:avLst>
              <a:gd name="adj" fmla="val 23529"/>
            </a:avLst>
          </a:prstGeom>
          <a:solidFill>
            <a:srgbClr val="EC835A"/>
          </a:solidFill>
          <a:ln w="12700">
            <a:solidFill>
              <a:srgbClr val="EC835A"/>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5193792" y="2980944"/>
            <a:ext cx="182880" cy="182880"/>
          </a:xfrm>
          <a:prstGeom prst="rect">
            <a:avLst/>
          </a:prstGeom>
        </p:spPr>
      </p:pic>
      <p:sp>
        <p:nvSpPr>
          <p:cNvPr id="13" name="Text 9"/>
          <p:cNvSpPr txBox="1"/>
          <p:nvPr/>
        </p:nvSpPr>
        <p:spPr>
          <a:xfrm>
            <a:off x="5413248" y="2916936"/>
            <a:ext cx="1088136" cy="310896"/>
          </a:xfrm>
          <a:prstGeom prst="rect">
            <a:avLst/>
          </a:prstGeom>
          <a:noFill/>
          <a:ln/>
        </p:spPr>
        <p:txBody>
          <a:bodyPr wrap="square" lIns="0" tIns="0" rIns="0" bIns="0" rtlCol="0" anchor="ctr"/>
          <a:lstStyle/>
          <a:p>
            <a:pPr marL="0" indent="0">
              <a:buNone/>
            </a:pPr>
            <a:r>
              <a:rPr lang="en-US" sz="1100" b="1" dirty="0">
                <a:solidFill>
                  <a:srgbClr val="FFFFFF"/>
                </a:solidFill>
              </a:rPr>
              <a:t>Partly met</a:t>
            </a:r>
            <a:endParaRPr lang="en-US" sz="1100" dirty="0"/>
          </a:p>
        </p:txBody>
      </p:sp>
      <p:sp>
        <p:nvSpPr>
          <p:cNvPr id="14" name="Text 10"/>
          <p:cNvSpPr txBox="1"/>
          <p:nvPr/>
        </p:nvSpPr>
        <p:spPr>
          <a:xfrm>
            <a:off x="6766560" y="2560320"/>
            <a:ext cx="4663440" cy="1024128"/>
          </a:xfrm>
          <a:prstGeom prst="rect">
            <a:avLst/>
          </a:prstGeom>
          <a:noFill/>
          <a:ln/>
        </p:spPr>
        <p:txBody>
          <a:bodyPr wrap="square" lIns="0" tIns="0" rIns="0" bIns="0" rtlCol="0" anchor="ctr"/>
          <a:lstStyle/>
          <a:p>
            <a:pPr marL="0" indent="0">
              <a:buNone/>
            </a:pPr>
            <a:r>
              <a:rPr lang="en-US" sz="1300" dirty="0">
                <a:solidFill>
                  <a:srgbClr val="1B1F24"/>
                </a:solidFill>
              </a:rPr>
              <a:t>Bimetallic bands at 420 nm (Ni–Cu) and 590 nm (Co–Cu); no ternary-only band.</a:t>
            </a:r>
            <a:endParaRPr lang="en-US" sz="1300" dirty="0"/>
          </a:p>
        </p:txBody>
      </p:sp>
      <p:sp>
        <p:nvSpPr>
          <p:cNvPr id="15" name="crit-2"/>
          <p:cNvSpPr/>
          <p:nvPr/>
        </p:nvSpPr>
        <p:spPr>
          <a:xfrm>
            <a:off x="548640" y="3749040"/>
            <a:ext cx="11064240" cy="1024128"/>
          </a:xfrm>
          <a:prstGeom prst="roundRect">
            <a:avLst>
              <a:gd name="adj" fmla="val 7143"/>
            </a:avLst>
          </a:prstGeom>
          <a:solidFill>
            <a:schemeClr val="bg2"/>
          </a:solidFill>
          <a:ln w="12700">
            <a:solidFill>
              <a:schemeClr val="bg2"/>
            </a:solidFill>
            <a:prstDash val="solid"/>
          </a:ln>
        </p:spPr>
        <p:txBody>
          <a:bodyPr/>
          <a:lstStyle/>
          <a:p>
            <a:endParaRPr lang="en-IN"/>
          </a:p>
        </p:txBody>
      </p:sp>
      <p:sp>
        <p:nvSpPr>
          <p:cNvPr id="16" name="Text 12"/>
          <p:cNvSpPr txBox="1"/>
          <p:nvPr/>
        </p:nvSpPr>
        <p:spPr>
          <a:xfrm>
            <a:off x="777240" y="3749040"/>
            <a:ext cx="4206240" cy="1024128"/>
          </a:xfrm>
          <a:prstGeom prst="rect">
            <a:avLst/>
          </a:prstGeom>
          <a:noFill/>
          <a:ln/>
        </p:spPr>
        <p:txBody>
          <a:bodyPr wrap="square" lIns="0" tIns="0" rIns="0" bIns="0" rtlCol="0" anchor="ctr"/>
          <a:lstStyle/>
          <a:p>
            <a:pPr marL="0" indent="0">
              <a:buNone/>
            </a:pPr>
            <a:r>
              <a:rPr lang="en-US" sz="1500" b="1" dirty="0">
                <a:solidFill>
                  <a:srgbClr val="16324F"/>
                </a:solidFill>
              </a:rPr>
              <a:t>3. MS ion with a mixed-metal stoichiometry</a:t>
            </a:r>
            <a:endParaRPr lang="en-US" sz="1500" dirty="0"/>
          </a:p>
        </p:txBody>
      </p:sp>
      <p:sp>
        <p:nvSpPr>
          <p:cNvPr id="17" name="chip-Pending"/>
          <p:cNvSpPr/>
          <p:nvPr/>
        </p:nvSpPr>
        <p:spPr>
          <a:xfrm>
            <a:off x="5120640" y="4105656"/>
            <a:ext cx="1417320" cy="310896"/>
          </a:xfrm>
          <a:prstGeom prst="roundRect">
            <a:avLst>
              <a:gd name="adj" fmla="val 23529"/>
            </a:avLst>
          </a:prstGeom>
          <a:solidFill>
            <a:srgbClr val="FAB219"/>
          </a:solidFill>
          <a:ln w="12700">
            <a:solidFill>
              <a:srgbClr val="FAB219"/>
            </a:solidFill>
            <a:prstDash val="solid"/>
          </a:ln>
        </p:spPr>
        <p:txBody>
          <a:bodyPr/>
          <a:lstStyle/>
          <a:p>
            <a:endParaRPr lang="en-IN"/>
          </a:p>
        </p:txBody>
      </p:sp>
      <p:pic>
        <p:nvPicPr>
          <p:cNvPr id="18" name="Image 2" descr="preencoded.png"/>
          <p:cNvPicPr>
            <a:picLocks noChangeAspect="1"/>
          </p:cNvPicPr>
          <p:nvPr/>
        </p:nvPicPr>
        <p:blipFill>
          <a:blip r:embed="rId5"/>
          <a:stretch>
            <a:fillRect/>
          </a:stretch>
        </p:blipFill>
        <p:spPr>
          <a:xfrm>
            <a:off x="5193792" y="4169664"/>
            <a:ext cx="182880" cy="182880"/>
          </a:xfrm>
          <a:prstGeom prst="rect">
            <a:avLst/>
          </a:prstGeom>
        </p:spPr>
      </p:pic>
      <p:sp>
        <p:nvSpPr>
          <p:cNvPr id="19" name="Text 14"/>
          <p:cNvSpPr txBox="1"/>
          <p:nvPr/>
        </p:nvSpPr>
        <p:spPr>
          <a:xfrm>
            <a:off x="5413248" y="4105656"/>
            <a:ext cx="1088136" cy="310896"/>
          </a:xfrm>
          <a:prstGeom prst="rect">
            <a:avLst/>
          </a:prstGeom>
          <a:noFill/>
          <a:ln/>
        </p:spPr>
        <p:txBody>
          <a:bodyPr wrap="square" lIns="0" tIns="0" rIns="0" bIns="0" rtlCol="0" anchor="ctr"/>
          <a:lstStyle/>
          <a:p>
            <a:pPr marL="0" indent="0">
              <a:buNone/>
            </a:pPr>
            <a:r>
              <a:rPr lang="en-US" sz="1100" b="1" dirty="0">
                <a:solidFill>
                  <a:srgbClr val="1B1F24"/>
                </a:solidFill>
              </a:rPr>
              <a:t>Pending</a:t>
            </a:r>
            <a:endParaRPr lang="en-US" sz="1100" dirty="0"/>
          </a:p>
        </p:txBody>
      </p:sp>
      <p:sp>
        <p:nvSpPr>
          <p:cNvPr id="20" name="Text 15"/>
          <p:cNvSpPr txBox="1"/>
          <p:nvPr/>
        </p:nvSpPr>
        <p:spPr>
          <a:xfrm>
            <a:off x="6766560" y="3749040"/>
            <a:ext cx="4663440" cy="1024128"/>
          </a:xfrm>
          <a:prstGeom prst="rect">
            <a:avLst/>
          </a:prstGeom>
          <a:noFill/>
          <a:ln/>
        </p:spPr>
        <p:txBody>
          <a:bodyPr wrap="square" lIns="0" tIns="0" rIns="0" bIns="0" rtlCol="0" anchor="ctr"/>
          <a:lstStyle/>
          <a:p>
            <a:pPr marL="0" indent="0">
              <a:buNone/>
            </a:pPr>
            <a:r>
              <a:rPr lang="en-US" sz="1300" dirty="0">
                <a:solidFill>
                  <a:srgbClr val="1B1F24"/>
                </a:solidFill>
              </a:rPr>
              <a:t>Waiting for HPLC–MS</a:t>
            </a:r>
            <a:endParaRPr lang="en-US" sz="1300" dirty="0"/>
          </a:p>
        </p:txBody>
      </p:sp>
      <p:sp>
        <p:nvSpPr>
          <p:cNvPr id="21" name="crit-3"/>
          <p:cNvSpPr/>
          <p:nvPr/>
        </p:nvSpPr>
        <p:spPr>
          <a:xfrm>
            <a:off x="548640" y="4937760"/>
            <a:ext cx="11064240" cy="1024128"/>
          </a:xfrm>
          <a:prstGeom prst="roundRect">
            <a:avLst>
              <a:gd name="adj" fmla="val 7143"/>
            </a:avLst>
          </a:prstGeom>
          <a:solidFill>
            <a:schemeClr val="bg2"/>
          </a:solidFill>
          <a:ln w="12700">
            <a:solidFill>
              <a:schemeClr val="bg2"/>
            </a:solidFill>
            <a:prstDash val="solid"/>
          </a:ln>
        </p:spPr>
        <p:txBody>
          <a:bodyPr/>
          <a:lstStyle/>
          <a:p>
            <a:endParaRPr lang="en-IN"/>
          </a:p>
        </p:txBody>
      </p:sp>
      <p:sp>
        <p:nvSpPr>
          <p:cNvPr id="22" name="Text 17"/>
          <p:cNvSpPr txBox="1"/>
          <p:nvPr/>
        </p:nvSpPr>
        <p:spPr>
          <a:xfrm>
            <a:off x="777240" y="4937760"/>
            <a:ext cx="4206240" cy="1024128"/>
          </a:xfrm>
          <a:prstGeom prst="rect">
            <a:avLst/>
          </a:prstGeom>
          <a:noFill/>
          <a:ln/>
        </p:spPr>
        <p:txBody>
          <a:bodyPr wrap="square" lIns="0" tIns="0" rIns="0" bIns="0" rtlCol="0" anchor="ctr"/>
          <a:lstStyle/>
          <a:p>
            <a:pPr marL="0" indent="0">
              <a:buNone/>
            </a:pPr>
            <a:r>
              <a:rPr lang="en-US" sz="1500" b="1" dirty="0">
                <a:solidFill>
                  <a:srgbClr val="16324F"/>
                </a:solidFill>
              </a:rPr>
              <a:t>4. Ternary map with wells of interest</a:t>
            </a:r>
            <a:endParaRPr lang="en-US" sz="1500" dirty="0"/>
          </a:p>
        </p:txBody>
      </p:sp>
      <p:sp>
        <p:nvSpPr>
          <p:cNvPr id="23" name="chip-Met"/>
          <p:cNvSpPr/>
          <p:nvPr/>
        </p:nvSpPr>
        <p:spPr>
          <a:xfrm>
            <a:off x="5120640" y="5294376"/>
            <a:ext cx="1417320" cy="310896"/>
          </a:xfrm>
          <a:prstGeom prst="roundRect">
            <a:avLst>
              <a:gd name="adj" fmla="val 23529"/>
            </a:avLst>
          </a:prstGeom>
          <a:solidFill>
            <a:srgbClr val="0CA30C"/>
          </a:solidFill>
          <a:ln w="12700">
            <a:solidFill>
              <a:srgbClr val="0CA30C"/>
            </a:solidFill>
            <a:prstDash val="solid"/>
          </a:ln>
        </p:spPr>
        <p:txBody>
          <a:bodyPr/>
          <a:lstStyle/>
          <a:p>
            <a:endParaRPr lang="en-IN"/>
          </a:p>
        </p:txBody>
      </p:sp>
      <p:pic>
        <p:nvPicPr>
          <p:cNvPr id="24" name="Image 3" descr="preencoded.png"/>
          <p:cNvPicPr>
            <a:picLocks noChangeAspect="1"/>
          </p:cNvPicPr>
          <p:nvPr/>
        </p:nvPicPr>
        <p:blipFill>
          <a:blip r:embed="rId3"/>
          <a:stretch>
            <a:fillRect/>
          </a:stretch>
        </p:blipFill>
        <p:spPr>
          <a:xfrm>
            <a:off x="5193792" y="5358384"/>
            <a:ext cx="182880" cy="182880"/>
          </a:xfrm>
          <a:prstGeom prst="rect">
            <a:avLst/>
          </a:prstGeom>
        </p:spPr>
      </p:pic>
      <p:sp>
        <p:nvSpPr>
          <p:cNvPr id="25" name="Text 19"/>
          <p:cNvSpPr txBox="1"/>
          <p:nvPr/>
        </p:nvSpPr>
        <p:spPr>
          <a:xfrm>
            <a:off x="5413248" y="5294376"/>
            <a:ext cx="1088136" cy="310896"/>
          </a:xfrm>
          <a:prstGeom prst="rect">
            <a:avLst/>
          </a:prstGeom>
          <a:noFill/>
          <a:ln/>
        </p:spPr>
        <p:txBody>
          <a:bodyPr wrap="square" lIns="0" tIns="0" rIns="0" bIns="0" rtlCol="0" anchor="ctr"/>
          <a:lstStyle/>
          <a:p>
            <a:pPr marL="0" indent="0">
              <a:buNone/>
            </a:pPr>
            <a:r>
              <a:rPr lang="en-US" sz="1100" b="1" dirty="0">
                <a:solidFill>
                  <a:srgbClr val="FFFFFF"/>
                </a:solidFill>
              </a:rPr>
              <a:t>Met</a:t>
            </a:r>
            <a:endParaRPr lang="en-US" sz="1100" dirty="0"/>
          </a:p>
        </p:txBody>
      </p:sp>
      <p:sp>
        <p:nvSpPr>
          <p:cNvPr id="26" name="Text 20"/>
          <p:cNvSpPr txBox="1"/>
          <p:nvPr/>
        </p:nvSpPr>
        <p:spPr>
          <a:xfrm>
            <a:off x="6766560" y="4937760"/>
            <a:ext cx="4663440" cy="1024128"/>
          </a:xfrm>
          <a:prstGeom prst="rect">
            <a:avLst/>
          </a:prstGeom>
          <a:noFill/>
          <a:ln/>
        </p:spPr>
        <p:txBody>
          <a:bodyPr wrap="square" lIns="0" tIns="0" rIns="0" bIns="0" rtlCol="0" anchor="ctr"/>
          <a:lstStyle/>
          <a:p>
            <a:pPr marL="0" indent="0">
              <a:buNone/>
            </a:pPr>
            <a:r>
              <a:rPr lang="en-US" sz="1300" dirty="0">
                <a:solidFill>
                  <a:srgbClr val="1B1F24"/>
                </a:solidFill>
              </a:rPr>
              <a:t>Scattering and band maps at all four ratios; leads identified</a:t>
            </a:r>
            <a:endParaRPr lang="en-US" sz="1300" dirty="0"/>
          </a:p>
        </p:txBody>
      </p:sp>
      <p:sp>
        <p:nvSpPr>
          <p:cNvPr id="27"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548640"/>
            <a:ext cx="10698480" cy="822960"/>
          </a:xfrm>
          <a:prstGeom prst="rect">
            <a:avLst/>
          </a:prstGeom>
          <a:noFill/>
          <a:ln/>
        </p:spPr>
        <p:txBody>
          <a:bodyPr wrap="square" rtlCol="0" anchor="ctr"/>
          <a:lstStyle/>
          <a:p>
            <a:pPr marL="0" indent="0" algn="l">
              <a:buNone/>
            </a:pPr>
            <a:r>
              <a:rPr lang="en-US" sz="3400" b="1" dirty="0">
                <a:solidFill>
                  <a:schemeClr val="bg1"/>
                </a:solidFill>
              </a:rPr>
              <a:t>What we learned and what comes next</a:t>
            </a:r>
            <a:endParaRPr lang="en-US" sz="3400" dirty="0"/>
          </a:p>
        </p:txBody>
      </p:sp>
      <p:sp>
        <p:nvSpPr>
          <p:cNvPr id="3" name="Text 1"/>
          <p:cNvSpPr txBox="1"/>
          <p:nvPr/>
        </p:nvSpPr>
        <p:spPr>
          <a:xfrm>
            <a:off x="731520" y="1600200"/>
            <a:ext cx="5212080" cy="4206240"/>
          </a:xfrm>
          <a:prstGeom prst="rect">
            <a:avLst/>
          </a:prstGeom>
          <a:noFill/>
          <a:ln/>
        </p:spPr>
        <p:txBody>
          <a:bodyPr wrap="square" rtlCol="0" anchor="t"/>
          <a:lstStyle/>
          <a:p>
            <a:pPr marL="0" indent="0">
              <a:spcAft>
                <a:spcPts val="800"/>
              </a:spcAft>
              <a:buNone/>
            </a:pPr>
            <a:r>
              <a:rPr lang="en-US" sz="1800" b="1" dirty="0">
                <a:solidFill>
                  <a:srgbClr val="B8693A"/>
                </a:solidFill>
              </a:rPr>
              <a:t>Learned</a:t>
            </a:r>
            <a:endParaRPr lang="en-US" sz="1600" dirty="0"/>
          </a:p>
          <a:p>
            <a:pPr marL="342900" indent="-342900">
              <a:spcAft>
                <a:spcPts val="800"/>
              </a:spcAft>
              <a:buSzPct val="100000"/>
              <a:buChar char="•"/>
            </a:pPr>
            <a:r>
              <a:rPr lang="en-US" sz="1600" dirty="0">
                <a:solidFill>
                  <a:srgbClr val="C9D7E6"/>
                </a:solidFill>
              </a:rPr>
              <a:t>Copper drives solid formation across the triangle.</a:t>
            </a:r>
            <a:endParaRPr lang="en-US" sz="1600" dirty="0"/>
          </a:p>
          <a:p>
            <a:pPr marL="342900" indent="-342900">
              <a:spcAft>
                <a:spcPts val="800"/>
              </a:spcAft>
              <a:buSzPct val="100000"/>
              <a:buChar char="•"/>
            </a:pPr>
            <a:r>
              <a:rPr lang="en-US" sz="1600" dirty="0">
                <a:solidFill>
                  <a:srgbClr val="C9D7E6"/>
                </a:solidFill>
              </a:rPr>
              <a:t>Ni–Cu (420 nm) and Co–Cu (590 nm) give bimetallic signatures.</a:t>
            </a:r>
            <a:endParaRPr lang="en-US" sz="1600" dirty="0"/>
          </a:p>
          <a:p>
            <a:pPr marL="342900" indent="-342900">
              <a:spcAft>
                <a:spcPts val="800"/>
              </a:spcAft>
              <a:buSzPct val="100000"/>
              <a:buChar char="•"/>
            </a:pPr>
            <a:r>
              <a:rPr lang="en-US" sz="1600" dirty="0">
                <a:solidFill>
                  <a:srgbClr val="C9D7E6"/>
                </a:solidFill>
              </a:rPr>
              <a:t>At UV–Vis level, ternary spectra behave like mixtures of binaries.</a:t>
            </a:r>
            <a:endParaRPr lang="en-US" sz="1600" dirty="0"/>
          </a:p>
          <a:p>
            <a:pPr marL="342900" indent="-342900">
              <a:spcAft>
                <a:spcPts val="800"/>
              </a:spcAft>
              <a:buSzPct val="100000"/>
              <a:buChar char="•"/>
            </a:pPr>
            <a:r>
              <a:rPr lang="en-US" sz="1600" dirty="0">
                <a:solidFill>
                  <a:srgbClr val="C9D7E6"/>
                </a:solidFill>
              </a:rPr>
              <a:t>The OT-2 workflow ran 96 reactions with 8 tips and reproducible spectra.</a:t>
            </a:r>
            <a:endParaRPr lang="en-US" sz="1600" dirty="0"/>
          </a:p>
        </p:txBody>
      </p:sp>
      <p:sp>
        <p:nvSpPr>
          <p:cNvPr id="4" name="Text 2"/>
          <p:cNvSpPr txBox="1"/>
          <p:nvPr/>
        </p:nvSpPr>
        <p:spPr>
          <a:xfrm>
            <a:off x="6309360" y="1600200"/>
            <a:ext cx="5212080" cy="4206240"/>
          </a:xfrm>
          <a:prstGeom prst="rect">
            <a:avLst/>
          </a:prstGeom>
          <a:noFill/>
          <a:ln/>
        </p:spPr>
        <p:txBody>
          <a:bodyPr wrap="square" rtlCol="0" anchor="t"/>
          <a:lstStyle/>
          <a:p>
            <a:pPr marL="0" indent="0">
              <a:spcAft>
                <a:spcPts val="800"/>
              </a:spcAft>
              <a:buNone/>
            </a:pPr>
            <a:r>
              <a:rPr lang="en-US" sz="1800" b="1" dirty="0">
                <a:solidFill>
                  <a:srgbClr val="B8693A"/>
                </a:solidFill>
              </a:rPr>
              <a:t>Next</a:t>
            </a:r>
            <a:endParaRPr lang="en-US" sz="1600" dirty="0"/>
          </a:p>
          <a:p>
            <a:pPr marL="342900" indent="-342900">
              <a:spcAft>
                <a:spcPts val="800"/>
              </a:spcAft>
              <a:buSzPct val="100000"/>
              <a:buChar char="•"/>
            </a:pPr>
            <a:r>
              <a:rPr lang="en-US" sz="1600" dirty="0">
                <a:solidFill>
                  <a:srgbClr val="C9D7E6"/>
                </a:solidFill>
              </a:rPr>
              <a:t>HPLC–MS and PXRD on the leads: mixed-metal ions, and a new phase or a physical mixture?</a:t>
            </a:r>
            <a:endParaRPr lang="en-US" sz="1600" dirty="0"/>
          </a:p>
          <a:p>
            <a:pPr marL="342900" indent="-342900">
              <a:spcAft>
                <a:spcPts val="800"/>
              </a:spcAft>
              <a:buSzPct val="100000"/>
              <a:buChar char="•"/>
            </a:pPr>
            <a:r>
              <a:rPr lang="en-US" sz="1600" dirty="0">
                <a:solidFill>
                  <a:srgbClr val="C9D7E6"/>
                </a:solidFill>
              </a:rPr>
              <a:t>Leads: Co:Cu 1:1 and 2:1, Ni:Cu 1:1, 2:1 and 1:2, and the 1:1:1, 3:2:1 and 2:1:3 ternaries at high BDC.</a:t>
            </a:r>
            <a:endParaRPr lang="en-US" sz="1600" dirty="0"/>
          </a:p>
          <a:p>
            <a:pPr marL="342900" indent="-342900">
              <a:spcAft>
                <a:spcPts val="800"/>
              </a:spcAft>
              <a:buSzPct val="100000"/>
              <a:buChar char="•"/>
            </a:pPr>
            <a:r>
              <a:rPr lang="en-US" sz="1600" dirty="0">
                <a:solidFill>
                  <a:srgbClr val="C9D7E6"/>
                </a:solidFill>
              </a:rPr>
              <a:t>Record a DMF blank and centrifuge before UV–Vis.</a:t>
            </a:r>
            <a:endParaRPr lang="en-US" sz="1600" dirty="0"/>
          </a:p>
          <a:p>
            <a:pPr marL="342900" indent="-342900">
              <a:spcAft>
                <a:spcPts val="800"/>
              </a:spcAft>
              <a:buSzPct val="100000"/>
              <a:buChar char="•"/>
            </a:pPr>
            <a:r>
              <a:rPr lang="en-US" sz="1600" dirty="0">
                <a:solidFill>
                  <a:srgbClr val="C9D7E6"/>
                </a:solidFill>
              </a:rPr>
              <a:t>Iterate on the Co–Cu and Ni–Cu edges, varying temperature and time.</a:t>
            </a:r>
            <a:endParaRPr lang="en-US" sz="1600" dirty="0"/>
          </a:p>
        </p:txBody>
      </p:sp>
      <p:sp>
        <p:nvSpPr>
          <p:cNvPr id="5" name="Text 3"/>
          <p:cNvSpPr txBox="1"/>
          <p:nvPr/>
        </p:nvSpPr>
        <p:spPr>
          <a:xfrm>
            <a:off x="731520" y="6035040"/>
            <a:ext cx="10698480" cy="365760"/>
          </a:xfrm>
          <a:prstGeom prst="rect">
            <a:avLst/>
          </a:prstGeom>
          <a:noFill/>
          <a:ln/>
        </p:spPr>
        <p:txBody>
          <a:bodyPr wrap="square" rtlCol="0" anchor="ctr"/>
          <a:lstStyle/>
          <a:p>
            <a:pPr marL="0" indent="0">
              <a:buNone/>
            </a:pPr>
            <a:r>
              <a:rPr lang="en-US" sz="1200" dirty="0">
                <a:solidFill>
                  <a:srgbClr val="C9D7E6"/>
                </a:solidFill>
              </a:rPr>
              <a:t>Code, data and figures: M3-MOF repository (analysis/analyse_uvvis.py)</a:t>
            </a:r>
            <a:endParaRPr lang="en-US" sz="1200" dirty="0"/>
          </a:p>
        </p:txBody>
      </p:sp>
      <p:pic>
        <p:nvPicPr>
          <p:cNvPr id="7" name="title-art" descr="Illustration of a metal-organic framework: Co, Ni and Cu nodes linked by benzenedicarboxylate rings">
            <a:extLst>
              <a:ext uri="{FF2B5EF4-FFF2-40B4-BE49-F238E27FC236}">
                <a16:creationId xmlns:a16="http://schemas.microsoft.com/office/drawing/2014/main" id="{2A9CA4E7-F39D-D108-568A-75B791C52798}"/>
              </a:ext>
            </a:extLst>
          </p:cNvPr>
          <p:cNvPicPr>
            <a:picLocks noChangeAspect="1"/>
          </p:cNvPicPr>
          <p:nvPr/>
        </p:nvPicPr>
        <p:blipFill>
          <a:blip r:embed="rId3">
            <a:alphaModFix amt="5000"/>
          </a:blip>
          <a:stretch>
            <a:fillRect/>
          </a:stretch>
        </p:blipFill>
        <p:spPr>
          <a:xfrm rot="2841063">
            <a:off x="3055135" y="-201750"/>
            <a:ext cx="6051248" cy="72614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18" name="title-art" descr="Illustration of a metal-organic framework: Co, Ni and Cu nodes linked by benzenedicarboxylate rings">
            <a:extLst>
              <a:ext uri="{FF2B5EF4-FFF2-40B4-BE49-F238E27FC236}">
                <a16:creationId xmlns:a16="http://schemas.microsoft.com/office/drawing/2014/main" id="{772345FC-08B0-AF99-791E-FB81E6E81326}"/>
              </a:ext>
            </a:extLst>
          </p:cNvPr>
          <p:cNvPicPr>
            <a:picLocks noChangeAspect="1"/>
          </p:cNvPicPr>
          <p:nvPr/>
        </p:nvPicPr>
        <p:blipFill>
          <a:blip r:embed="rId3">
            <a:alphaModFix amt="20000"/>
          </a:blip>
          <a:stretch>
            <a:fillRect/>
          </a:stretch>
        </p:blipFill>
        <p:spPr>
          <a:xfrm rot="2841063">
            <a:off x="3055135" y="-201750"/>
            <a:ext cx="6051248" cy="7261498"/>
          </a:xfrm>
          <a:prstGeom prst="rect">
            <a:avLst/>
          </a:prstGeom>
        </p:spPr>
      </p:pic>
      <p:sp>
        <p:nvSpPr>
          <p:cNvPr id="2" name="Text 0"/>
          <p:cNvSpPr>
            <a:spLocks noGrp="1"/>
          </p:cNvSpPr>
          <p:nvPr>
            <p:ph type="title" idx="100" hasCustomPrompt="1"/>
          </p:nvPr>
        </p:nvSpPr>
        <p:spPr>
          <a:xfrm>
            <a:off x="731520" y="548640"/>
            <a:ext cx="10698480" cy="822960"/>
          </a:xfrm>
          <a:prstGeom prst="rect">
            <a:avLst/>
          </a:prstGeom>
          <a:noFill/>
          <a:ln/>
        </p:spPr>
        <p:txBody>
          <a:bodyPr wrap="square" rtlCol="0" anchor="ctr"/>
          <a:lstStyle/>
          <a:p>
            <a:pPr marL="0" indent="0" algn="l">
              <a:buNone/>
            </a:pPr>
            <a:r>
              <a:rPr lang="en-US" sz="3400" b="1" dirty="0">
                <a:solidFill>
                  <a:schemeClr val="bg1"/>
                </a:solidFill>
              </a:rPr>
              <a:t>Thank you</a:t>
            </a:r>
            <a:endParaRPr lang="en-US" sz="3400" dirty="0"/>
          </a:p>
        </p:txBody>
      </p:sp>
      <p:sp>
        <p:nvSpPr>
          <p:cNvPr id="3" name="Text 1"/>
          <p:cNvSpPr txBox="1"/>
          <p:nvPr/>
        </p:nvSpPr>
        <p:spPr>
          <a:xfrm>
            <a:off x="731520" y="1371600"/>
            <a:ext cx="10698480" cy="411480"/>
          </a:xfrm>
          <a:prstGeom prst="rect">
            <a:avLst/>
          </a:prstGeom>
          <a:noFill/>
          <a:ln/>
        </p:spPr>
        <p:txBody>
          <a:bodyPr wrap="square" rtlCol="0" anchor="ctr"/>
          <a:lstStyle/>
          <a:p>
            <a:pPr marL="0" indent="0">
              <a:buNone/>
            </a:pPr>
            <a:r>
              <a:rPr lang="en-US" sz="1800" b="1" dirty="0">
                <a:solidFill>
                  <a:srgbClr val="B8693A"/>
                </a:solidFill>
              </a:rPr>
              <a:t>Team MOFKeKing  |  Project M3-MOF</a:t>
            </a:r>
            <a:endParaRPr lang="en-US" sz="1800" dirty="0"/>
          </a:p>
        </p:txBody>
      </p:sp>
      <p:sp>
        <p:nvSpPr>
          <p:cNvPr id="4" name="member-0"/>
          <p:cNvSpPr/>
          <p:nvPr/>
        </p:nvSpPr>
        <p:spPr>
          <a:xfrm>
            <a:off x="731520" y="2103120"/>
            <a:ext cx="3383280" cy="3657600"/>
          </a:xfrm>
          <a:prstGeom prst="roundRect">
            <a:avLst>
              <a:gd name="adj" fmla="val 3243"/>
            </a:avLst>
          </a:prstGeom>
          <a:solidFill>
            <a:srgbClr val="1F4166"/>
          </a:solidFill>
          <a:ln w="12700">
            <a:solidFill>
              <a:srgbClr val="1F4166"/>
            </a:solidFill>
            <a:prstDash val="solid"/>
          </a:ln>
        </p:spPr>
        <p:txBody>
          <a:bodyPr/>
          <a:lstStyle/>
          <a:p>
            <a:endParaRPr lang="en-IN"/>
          </a:p>
        </p:txBody>
      </p:sp>
      <p:pic>
        <p:nvPicPr>
          <p:cNvPr id="5" name="photo-0"/>
          <p:cNvPicPr>
            <a:picLocks noChangeAspect="1"/>
          </p:cNvPicPr>
          <p:nvPr/>
        </p:nvPicPr>
        <p:blipFill>
          <a:blip r:embed="rId4"/>
          <a:srcRect/>
          <a:stretch/>
        </p:blipFill>
        <p:spPr>
          <a:xfrm>
            <a:off x="1691640" y="2377440"/>
            <a:ext cx="1463040" cy="1463040"/>
          </a:xfrm>
          <a:prstGeom prst="rect">
            <a:avLst/>
          </a:prstGeom>
        </p:spPr>
      </p:pic>
      <p:sp>
        <p:nvSpPr>
          <p:cNvPr id="6" name="Text 3"/>
          <p:cNvSpPr txBox="1"/>
          <p:nvPr/>
        </p:nvSpPr>
        <p:spPr>
          <a:xfrm>
            <a:off x="868680" y="4023360"/>
            <a:ext cx="3108960" cy="457200"/>
          </a:xfrm>
          <a:prstGeom prst="rect">
            <a:avLst/>
          </a:prstGeom>
          <a:noFill/>
          <a:ln/>
        </p:spPr>
        <p:txBody>
          <a:bodyPr wrap="square" lIns="0" tIns="0" rIns="0" bIns="0" rtlCol="0" anchor="ctr"/>
          <a:lstStyle/>
          <a:p>
            <a:pPr marL="0" indent="0" algn="ctr">
              <a:buNone/>
            </a:pPr>
            <a:r>
              <a:rPr lang="en-US" sz="1800" b="1" dirty="0">
                <a:solidFill>
                  <a:srgbClr val="FFFFFF"/>
                </a:solidFill>
              </a:rPr>
              <a:t>Aritra Roy</a:t>
            </a:r>
            <a:endParaRPr lang="en-US" sz="1800" dirty="0"/>
          </a:p>
        </p:txBody>
      </p:sp>
      <p:sp>
        <p:nvSpPr>
          <p:cNvPr id="7" name="Text 4"/>
          <p:cNvSpPr txBox="1"/>
          <p:nvPr/>
        </p:nvSpPr>
        <p:spPr>
          <a:xfrm>
            <a:off x="868680" y="4526280"/>
            <a:ext cx="3108960" cy="1051560"/>
          </a:xfrm>
          <a:prstGeom prst="rect">
            <a:avLst/>
          </a:prstGeom>
          <a:noFill/>
          <a:ln/>
        </p:spPr>
        <p:txBody>
          <a:bodyPr wrap="square" lIns="0" tIns="0" rIns="0" bIns="0" rtlCol="0" anchor="t"/>
          <a:lstStyle/>
          <a:p>
            <a:pPr marL="0" indent="0" algn="ctr">
              <a:buNone/>
            </a:pPr>
            <a:r>
              <a:rPr lang="en-US" sz="1300" dirty="0">
                <a:solidFill>
                  <a:srgbClr val="C9D7E6"/>
                </a:solidFill>
              </a:rPr>
              <a:t>contact@aritraroy.live</a:t>
            </a:r>
            <a:endParaRPr lang="en-US" sz="1300" dirty="0"/>
          </a:p>
          <a:p>
            <a:pPr marL="0" indent="0" algn="ctr">
              <a:buNone/>
            </a:pPr>
            <a:r>
              <a:rPr lang="en-US" sz="1300" dirty="0">
                <a:solidFill>
                  <a:srgbClr val="C9D7E6"/>
                </a:solidFill>
              </a:rPr>
              <a:t>aritraroy.live</a:t>
            </a:r>
            <a:endParaRPr lang="en-US" sz="1300" dirty="0"/>
          </a:p>
          <a:p>
            <a:pPr marL="0" indent="0" algn="ctr">
              <a:buNone/>
            </a:pPr>
            <a:r>
              <a:rPr lang="en-US" sz="1300" dirty="0">
                <a:solidFill>
                  <a:srgbClr val="C9D7E6"/>
                </a:solidFill>
              </a:rPr>
              <a:t>GitHub: aritraroy24</a:t>
            </a:r>
            <a:endParaRPr lang="en-US" sz="1300" dirty="0"/>
          </a:p>
        </p:txBody>
      </p:sp>
      <p:sp>
        <p:nvSpPr>
          <p:cNvPr id="8" name="member-1"/>
          <p:cNvSpPr/>
          <p:nvPr/>
        </p:nvSpPr>
        <p:spPr>
          <a:xfrm>
            <a:off x="4389120" y="2103120"/>
            <a:ext cx="3383280" cy="3657600"/>
          </a:xfrm>
          <a:prstGeom prst="roundRect">
            <a:avLst>
              <a:gd name="adj" fmla="val 3243"/>
            </a:avLst>
          </a:prstGeom>
          <a:solidFill>
            <a:srgbClr val="1F4166"/>
          </a:solidFill>
          <a:ln w="12700">
            <a:solidFill>
              <a:srgbClr val="1F4166"/>
            </a:solidFill>
            <a:prstDash val="solid"/>
          </a:ln>
        </p:spPr>
        <p:txBody>
          <a:bodyPr/>
          <a:lstStyle/>
          <a:p>
            <a:endParaRPr lang="en-IN"/>
          </a:p>
        </p:txBody>
      </p:sp>
      <p:pic>
        <p:nvPicPr>
          <p:cNvPr id="9" name="photo-1"/>
          <p:cNvPicPr>
            <a:picLocks noChangeAspect="1"/>
          </p:cNvPicPr>
          <p:nvPr/>
        </p:nvPicPr>
        <p:blipFill>
          <a:blip r:embed="rId5"/>
          <a:srcRect/>
          <a:stretch/>
        </p:blipFill>
        <p:spPr>
          <a:xfrm>
            <a:off x="5349240" y="2377440"/>
            <a:ext cx="1463040" cy="1463040"/>
          </a:xfrm>
          <a:prstGeom prst="rect">
            <a:avLst/>
          </a:prstGeom>
        </p:spPr>
      </p:pic>
      <p:sp>
        <p:nvSpPr>
          <p:cNvPr id="10" name="Text 6"/>
          <p:cNvSpPr txBox="1"/>
          <p:nvPr/>
        </p:nvSpPr>
        <p:spPr>
          <a:xfrm>
            <a:off x="4526280" y="4023360"/>
            <a:ext cx="3108960" cy="457200"/>
          </a:xfrm>
          <a:prstGeom prst="rect">
            <a:avLst/>
          </a:prstGeom>
          <a:noFill/>
          <a:ln/>
        </p:spPr>
        <p:txBody>
          <a:bodyPr wrap="square" lIns="0" tIns="0" rIns="0" bIns="0" rtlCol="0" anchor="ctr"/>
          <a:lstStyle/>
          <a:p>
            <a:pPr marL="0" indent="0" algn="ctr">
              <a:buNone/>
            </a:pPr>
            <a:r>
              <a:rPr lang="en-US" sz="1800" b="1" dirty="0">
                <a:solidFill>
                  <a:srgbClr val="FFFFFF"/>
                </a:solidFill>
              </a:rPr>
              <a:t>Piyush Ranjan Maharana</a:t>
            </a:r>
            <a:endParaRPr lang="en-US" sz="1800" dirty="0"/>
          </a:p>
        </p:txBody>
      </p:sp>
      <p:sp>
        <p:nvSpPr>
          <p:cNvPr id="11" name="Text 7"/>
          <p:cNvSpPr txBox="1"/>
          <p:nvPr/>
        </p:nvSpPr>
        <p:spPr>
          <a:xfrm>
            <a:off x="4526280" y="4526280"/>
            <a:ext cx="3108960" cy="1051560"/>
          </a:xfrm>
          <a:prstGeom prst="rect">
            <a:avLst/>
          </a:prstGeom>
          <a:noFill/>
          <a:ln/>
        </p:spPr>
        <p:txBody>
          <a:bodyPr wrap="square" lIns="0" tIns="0" rIns="0" bIns="0" rtlCol="0" anchor="t"/>
          <a:lstStyle/>
          <a:p>
            <a:pPr marL="0" indent="0" algn="ctr">
              <a:buNone/>
            </a:pPr>
            <a:r>
              <a:rPr lang="en-US" sz="1300" dirty="0">
                <a:solidFill>
                  <a:srgbClr val="C9D7E6"/>
                </a:solidFill>
              </a:rPr>
              <a:t>piyushmaharana15@gmail.com</a:t>
            </a:r>
            <a:endParaRPr lang="en-US" sz="1300" dirty="0"/>
          </a:p>
          <a:p>
            <a:pPr algn="ctr"/>
            <a:r>
              <a:rPr lang="en-US" sz="1300" dirty="0">
                <a:solidFill>
                  <a:srgbClr val="C9D7E6"/>
                </a:solidFill>
              </a:rPr>
              <a:t>catastropiyush.github.io</a:t>
            </a:r>
            <a:br>
              <a:rPr lang="en-US" sz="1300" dirty="0">
                <a:solidFill>
                  <a:srgbClr val="C9D7E6"/>
                </a:solidFill>
              </a:rPr>
            </a:br>
            <a:r>
              <a:rPr lang="en-US" sz="1300" dirty="0">
                <a:solidFill>
                  <a:srgbClr val="C9D7E6"/>
                </a:solidFill>
              </a:rPr>
              <a:t>GitHub: catastropiyush</a:t>
            </a:r>
            <a:endParaRPr lang="en-US" sz="1300" dirty="0"/>
          </a:p>
        </p:txBody>
      </p:sp>
      <p:sp>
        <p:nvSpPr>
          <p:cNvPr id="12" name="member-2"/>
          <p:cNvSpPr/>
          <p:nvPr/>
        </p:nvSpPr>
        <p:spPr>
          <a:xfrm>
            <a:off x="8046720" y="2103120"/>
            <a:ext cx="3383280" cy="3657600"/>
          </a:xfrm>
          <a:prstGeom prst="roundRect">
            <a:avLst>
              <a:gd name="adj" fmla="val 3243"/>
            </a:avLst>
          </a:prstGeom>
          <a:solidFill>
            <a:srgbClr val="1F4166"/>
          </a:solidFill>
          <a:ln w="12700">
            <a:solidFill>
              <a:srgbClr val="1F4166"/>
            </a:solidFill>
            <a:prstDash val="solid"/>
          </a:ln>
        </p:spPr>
        <p:txBody>
          <a:bodyPr/>
          <a:lstStyle/>
          <a:p>
            <a:endParaRPr lang="en-IN"/>
          </a:p>
        </p:txBody>
      </p:sp>
      <p:pic>
        <p:nvPicPr>
          <p:cNvPr id="13" name="photo-2"/>
          <p:cNvPicPr>
            <a:picLocks noChangeAspect="1"/>
          </p:cNvPicPr>
          <p:nvPr/>
        </p:nvPicPr>
        <p:blipFill>
          <a:blip r:embed="rId6"/>
          <a:srcRect/>
          <a:stretch/>
        </p:blipFill>
        <p:spPr>
          <a:xfrm>
            <a:off x="9006840" y="2419903"/>
            <a:ext cx="1463040" cy="1378114"/>
          </a:xfrm>
          <a:prstGeom prst="rect">
            <a:avLst/>
          </a:prstGeom>
        </p:spPr>
      </p:pic>
      <p:sp>
        <p:nvSpPr>
          <p:cNvPr id="14" name="Text 9"/>
          <p:cNvSpPr txBox="1"/>
          <p:nvPr/>
        </p:nvSpPr>
        <p:spPr>
          <a:xfrm>
            <a:off x="8183880" y="4023360"/>
            <a:ext cx="3108960" cy="457200"/>
          </a:xfrm>
          <a:prstGeom prst="rect">
            <a:avLst/>
          </a:prstGeom>
          <a:noFill/>
          <a:ln/>
        </p:spPr>
        <p:txBody>
          <a:bodyPr wrap="square" lIns="0" tIns="0" rIns="0" bIns="0" rtlCol="0" anchor="ctr"/>
          <a:lstStyle/>
          <a:p>
            <a:pPr marL="0" indent="0" algn="ctr">
              <a:buNone/>
            </a:pPr>
            <a:r>
              <a:rPr lang="en-US" sz="1800" b="1" dirty="0">
                <a:solidFill>
                  <a:srgbClr val="FFFFFF"/>
                </a:solidFill>
              </a:rPr>
              <a:t>Tarak Nath Das</a:t>
            </a:r>
            <a:endParaRPr lang="en-US" sz="1800" dirty="0"/>
          </a:p>
        </p:txBody>
      </p:sp>
      <p:sp>
        <p:nvSpPr>
          <p:cNvPr id="15" name="Text 10"/>
          <p:cNvSpPr txBox="1"/>
          <p:nvPr/>
        </p:nvSpPr>
        <p:spPr>
          <a:xfrm>
            <a:off x="8183880" y="4526280"/>
            <a:ext cx="3108960" cy="1051560"/>
          </a:xfrm>
          <a:prstGeom prst="rect">
            <a:avLst/>
          </a:prstGeom>
          <a:noFill/>
          <a:ln/>
        </p:spPr>
        <p:txBody>
          <a:bodyPr wrap="square" lIns="0" tIns="0" rIns="0" bIns="0" rtlCol="0" anchor="t"/>
          <a:lstStyle/>
          <a:p>
            <a:pPr marL="0" indent="0" algn="ctr">
              <a:buNone/>
            </a:pPr>
            <a:r>
              <a:rPr lang="en-US" sz="1300" dirty="0">
                <a:solidFill>
                  <a:srgbClr val="C9D7E6"/>
                </a:solidFill>
              </a:rPr>
              <a:t>dastaraknath4@gmail.com</a:t>
            </a:r>
            <a:endParaRPr lang="en-US" sz="1300" dirty="0"/>
          </a:p>
        </p:txBody>
      </p:sp>
      <p:sp>
        <p:nvSpPr>
          <p:cNvPr id="16" name="Text 11"/>
          <p:cNvSpPr txBox="1"/>
          <p:nvPr/>
        </p:nvSpPr>
        <p:spPr>
          <a:xfrm>
            <a:off x="731520" y="5989320"/>
            <a:ext cx="10698480" cy="365760"/>
          </a:xfrm>
          <a:prstGeom prst="rect">
            <a:avLst/>
          </a:prstGeom>
          <a:noFill/>
          <a:ln/>
        </p:spPr>
        <p:txBody>
          <a:bodyPr wrap="square" rtlCol="0" anchor="ctr"/>
          <a:lstStyle/>
          <a:p>
            <a:pPr marL="0" indent="0">
              <a:buNone/>
            </a:pPr>
            <a:r>
              <a:rPr lang="en-US" sz="1300" dirty="0">
                <a:solidFill>
                  <a:srgbClr val="C9D7E6"/>
                </a:solidFill>
              </a:rPr>
              <a:t>Thanks to the UZH HTEL team for running the OT-2, oven and UV–Vis steps.</a:t>
            </a:r>
            <a:endParaRPr lang="en-US" sz="1300" dirty="0"/>
          </a:p>
        </p:txBody>
      </p:sp>
    </p:spTree>
  </p:cSld>
  <p:clrMapOvr>
    <a:masterClrMapping/>
  </p:clrMapOvr>
</p:sld>
</file>

<file path=ppt/theme/theme1.xml><?xml version="1.0" encoding="utf-8"?>
<a:theme xmlns:a="http://schemas.openxmlformats.org/drawingml/2006/main" name="M3-MOF Copper">
  <a:themeElements>
    <a:clrScheme name="M3-MOF Copper">
      <a:dk1>
        <a:srgbClr val="1B1F24"/>
      </a:dk1>
      <a:lt1>
        <a:srgbClr val="FFFFFF"/>
      </a:lt1>
      <a:dk2>
        <a:srgbClr val="16324F"/>
      </a:dk2>
      <a:lt2>
        <a:srgbClr val="EEF2F6"/>
      </a:lt2>
      <a:accent1>
        <a:srgbClr val="B8693A"/>
      </a:accent1>
      <a:accent2>
        <a:srgbClr val="2A78D6"/>
      </a:accent2>
      <a:accent3>
        <a:srgbClr val="1BAF7A"/>
      </a:accent3>
      <a:accent4>
        <a:srgbClr val="EB6834"/>
      </a:accent4>
      <a:accent5>
        <a:srgbClr val="6250D6"/>
      </a:accent5>
      <a:accent6>
        <a:srgbClr val="8A8984"/>
      </a:accent6>
      <a:hlink>
        <a:srgbClr val="2A78D6"/>
      </a:hlink>
      <a:folHlink>
        <a:srgbClr val="6250D6"/>
      </a:folHlink>
    </a:clrScheme>
    <a:fontScheme name="M3-MOF Copp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1382</Words>
  <Application>Microsoft Office PowerPoint</Application>
  <PresentationFormat>Widescreen</PresentationFormat>
  <Paragraphs>155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M3-MOF Copper</vt:lpstr>
      <vt:lpstr>Automated Exploration of Co–Ni–Cu BDC Coordination Polymers</vt:lpstr>
      <vt:lpstr>Can a UV–Vis screen spot mixed-metal Co–Ni–Cu species?</vt:lpstr>
      <vt:lpstr>From Python design to 96 spectra in one robot day</vt:lpstr>
      <vt:lpstr>Raw spectra: weak bands on a strong scattering background</vt:lpstr>
      <vt:lpstr>Second derivatives separate bands from scattering</vt:lpstr>
      <vt:lpstr>Copper drives solid formation</vt:lpstr>
      <vt:lpstr>Two bands appear only when copper meets a specific partner</vt:lpstr>
      <vt:lpstr>No ternary well shows a feature the binaries cannot explain</vt:lpstr>
      <vt:lpstr>Scorecard against our success criteria</vt:lpstr>
      <vt:lpstr>What we learned and what comes next</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Exploration of Co–Ni–Cu BDC Coordination Polymers</dc:title>
  <dc:subject>PptxGenJS Presentation</dc:subject>
  <dc:creator>Aritra Roy</dc:creator>
  <cp:lastModifiedBy>Aritra Roy</cp:lastModifiedBy>
  <cp:revision>1</cp:revision>
  <dcterms:created xsi:type="dcterms:W3CDTF">2026-10-30T09:18:34Z</dcterms:created>
  <dcterms:modified xsi:type="dcterms:W3CDTF">2026-10-30T09:35:12Z</dcterms:modified>
</cp:coreProperties>
</file>